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to 0:10. Name the tool and the team. Skip the problem: Huey already knows it. One line: Penny tells a member how much they can safely save each payday, and every number is checked before they see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to 0:30. Introduce the member by the facts that matter: weekly gig pay, a real goal, spending that swings month to month. Read Penny's sentence out loud. Point out it hits the brief exactly: a specific dollar amount, a specific action, a specific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 2:45. Switch to the app. Clicks in order: 1) MBR-0026 recommendation. 2) Open How we checked this. 3) Advance to next payday: the miss, Penny offers $76.59. 4) Advance again: $17.40 partial save, read Penny's message. 5) Turn on the corrupt toggle: blocked, template shown. 6) Pick MBR-0062: counselor hand-off plus ways to free up money. Then Data tab, run the portfolio check. If the app fails, use the screenshots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 to 3:30. This answers Rob's question: how do we rely on AI output? The AI never does math. Code calculates, the AI only sees four approved numbers, and the validator checks every dollar figure before display. We calculated the reference numbers separately first; the engine matches to the cent. The 69 percent story shows why this matters: the AI slipped math into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to 4:00. Gesa told us normalization matters, so the flat workbook becomes a normalized design: merchants, categories, accounts, check-in history. Rob said to treat the data as correct, so odd values are signals for a person, not errors we fix. Portfolio check across all 100 members: 38 get a suggestion, 62 go to a person, with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to 4:40. Lead with the guardrails, then own the limitations before a judge finds them. Each limitation comes with the fix we would build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 to 5:00. Feasibility: it plugs into the app members already use, and every data field it needs already exists in Gesa's systems. Start small with volunteers and measure outcomes that matter to members, not product sales. End on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56FF"/>
        </a:solidFill>
      </p:bgPr>
    </p:bg>
    <p:spTree>
      <p:nvGrpSpPr>
        <p:cNvPr id="1" name=""/>
        <p:cNvGrpSpPr/>
        <p:nvPr/>
      </p:nvGrpSpPr>
      <p:grpSpPr>
        <a:xfrm>
          <a:off x="0" y="0"/>
          <a:ext cx="0" cy="0"/>
          <a:chOff x="0" y="0"/>
          <a:chExt cx="0" cy="0"/>
        </a:xfrm>
      </p:grpSpPr>
      <p:sp>
        <p:nvSpPr>
          <p:cNvPr id="2" name="Text 0"/>
          <p:cNvSpPr/>
          <p:nvPr/>
        </p:nvSpPr>
        <p:spPr>
          <a:xfrm>
            <a:off x="812800" y="812800"/>
            <a:ext cx="10883393" cy="274320"/>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E8EBFF"/>
                </a:solidFill>
                <a:latin typeface="Inter" pitchFamily="34" charset="0"/>
                <a:ea typeface="Inter" pitchFamily="34" charset="-122"/>
                <a:cs typeface="Inter" pitchFamily="34" charset="-120"/>
              </a:rPr>
              <a:t>GESA HACKATHON · THE SAVINGS COACH THAT CHECKS IN</a:t>
            </a:r>
            <a:endParaRPr lang="en-US" sz="1400" dirty="0"/>
          </a:p>
        </p:txBody>
      </p:sp>
      <p:sp>
        <p:nvSpPr>
          <p:cNvPr id="3" name="Text 1"/>
          <p:cNvSpPr/>
          <p:nvPr/>
        </p:nvSpPr>
        <p:spPr>
          <a:xfrm>
            <a:off x="812800" y="2368550"/>
            <a:ext cx="10883393" cy="1090771"/>
          </a:xfrm>
          <a:prstGeom prst="rect">
            <a:avLst/>
          </a:prstGeom>
          <a:noFill/>
          <a:ln/>
        </p:spPr>
        <p:txBody>
          <a:bodyPr wrap="square" lIns="0" tIns="0" rIns="0" bIns="0" rtlCol="0" anchor="t">
            <a:normAutofit/>
          </a:bodyPr>
          <a:lstStyle/>
          <a:p>
            <a:pPr algn="l" indent="0" marL="0">
              <a:lnSpc>
                <a:spcPts val="8400"/>
              </a:lnSpc>
              <a:buNone/>
            </a:pPr>
            <a:r>
              <a:rPr lang="en-US" sz="8400" b="1" dirty="0">
                <a:solidFill>
                  <a:srgbClr val="F5F6FA"/>
                </a:solidFill>
                <a:latin typeface="Inter" pitchFamily="34" charset="0"/>
                <a:ea typeface="Inter" pitchFamily="34" charset="-122"/>
                <a:cs typeface="Inter" pitchFamily="34" charset="-120"/>
              </a:rPr>
              <a:t>Penny</a:t>
            </a:r>
            <a:endParaRPr lang="en-US" sz="8400" dirty="0"/>
          </a:p>
        </p:txBody>
      </p:sp>
      <p:sp>
        <p:nvSpPr>
          <p:cNvPr id="4" name="Text 2"/>
          <p:cNvSpPr/>
          <p:nvPr/>
        </p:nvSpPr>
        <p:spPr>
          <a:xfrm>
            <a:off x="812800" y="3637121"/>
            <a:ext cx="8502651" cy="877729"/>
          </a:xfrm>
          <a:prstGeom prst="rect">
            <a:avLst/>
          </a:prstGeom>
          <a:noFill/>
          <a:ln/>
        </p:spPr>
        <p:txBody>
          <a:bodyPr wrap="square" lIns="0" tIns="0" rIns="0" bIns="0" rtlCol="0" anchor="t">
            <a:normAutofit/>
          </a:bodyPr>
          <a:lstStyle/>
          <a:p>
            <a:pPr algn="l" indent="0" marL="0">
              <a:lnSpc>
                <a:spcPts val="3360"/>
              </a:lnSpc>
              <a:buNone/>
            </a:pPr>
            <a:r>
              <a:rPr lang="en-US" sz="2800" dirty="0">
                <a:solidFill>
                  <a:srgbClr val="F5F6FA"/>
                </a:solidFill>
                <a:latin typeface="Inter" pitchFamily="34" charset="0"/>
                <a:ea typeface="Inter" pitchFamily="34" charset="-122"/>
                <a:cs typeface="Inter" pitchFamily="34" charset="-120"/>
              </a:rPr>
              <a:t>A paycheck savings coach that shows its receipts.</a:t>
            </a:r>
            <a:endParaRPr lang="en-US" sz="2800" dirty="0"/>
          </a:p>
        </p:txBody>
      </p:sp>
      <p:sp>
        <p:nvSpPr>
          <p:cNvPr id="5" name="Text 3"/>
          <p:cNvSpPr/>
          <p:nvPr/>
        </p:nvSpPr>
        <p:spPr>
          <a:xfrm>
            <a:off x="812800" y="5797550"/>
            <a:ext cx="108833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8EBFF"/>
                </a:solidFill>
                <a:latin typeface="Inter" pitchFamily="34" charset="0"/>
                <a:ea typeface="Inter" pitchFamily="34" charset="-122"/>
                <a:cs typeface="Inter" pitchFamily="34" charset="-120"/>
              </a:rPr>
              <a:t>Built for a Gesa Credit Union pilot · [Team member names]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812800" y="812801"/>
            <a:ext cx="6697472"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356FF"/>
                </a:solidFill>
                <a:latin typeface="Inter" pitchFamily="34" charset="0"/>
                <a:ea typeface="Inter" pitchFamily="34" charset="-122"/>
                <a:cs typeface="Inter" pitchFamily="34" charset="-120"/>
              </a:rPr>
              <a:t>MEET THE MEMBER</a:t>
            </a:r>
            <a:endParaRPr lang="en-US" sz="1300" dirty="0"/>
          </a:p>
        </p:txBody>
      </p:sp>
      <p:sp>
        <p:nvSpPr>
          <p:cNvPr id="3" name="Text 1"/>
          <p:cNvSpPr/>
          <p:nvPr/>
        </p:nvSpPr>
        <p:spPr>
          <a:xfrm>
            <a:off x="812800" y="1196340"/>
            <a:ext cx="669747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91919"/>
                </a:solidFill>
                <a:latin typeface="Inter" pitchFamily="34" charset="0"/>
                <a:ea typeface="Inter" pitchFamily="34" charset="-122"/>
                <a:cs typeface="Inter" pitchFamily="34" charset="-120"/>
              </a:rPr>
              <a:t>MBR-0026</a:t>
            </a:r>
            <a:endParaRPr lang="en-US" sz="3600" dirty="0"/>
          </a:p>
        </p:txBody>
      </p:sp>
      <p:sp>
        <p:nvSpPr>
          <p:cNvPr id="4" name="Text 2"/>
          <p:cNvSpPr/>
          <p:nvPr/>
        </p:nvSpPr>
        <p:spPr>
          <a:xfrm>
            <a:off x="812800" y="1851661"/>
            <a:ext cx="669747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2"/>
                </a:solidFill>
                <a:latin typeface="Inter" pitchFamily="34" charset="0"/>
                <a:ea typeface="Inter" pitchFamily="34" charset="-122"/>
                <a:cs typeface="Inter" pitchFamily="34" charset="-120"/>
              </a:rPr>
              <a:t>Age 57, gig income paid weekly, household of five. Saving for a home down payment: $1,640.13 to go.</a:t>
            </a:r>
            <a:endParaRPr lang="en-US" sz="1600" dirty="0"/>
          </a:p>
        </p:txBody>
      </p:sp>
      <p:sp>
        <p:nvSpPr>
          <p:cNvPr id="5" name="Shape 3"/>
          <p:cNvSpPr/>
          <p:nvPr/>
        </p:nvSpPr>
        <p:spPr>
          <a:xfrm>
            <a:off x="812800" y="3963670"/>
            <a:ext cx="6502400" cy="2081530"/>
          </a:xfrm>
          <a:prstGeom prst="roundRect">
            <a:avLst>
              <a:gd name="adj" fmla="val 4881"/>
            </a:avLst>
          </a:prstGeom>
          <a:solidFill>
            <a:srgbClr val="FDFDFF"/>
          </a:solidFill>
          <a:ln/>
        </p:spPr>
      </p:sp>
      <p:sp>
        <p:nvSpPr>
          <p:cNvPr id="6" name="Shape 4"/>
          <p:cNvSpPr/>
          <p:nvPr/>
        </p:nvSpPr>
        <p:spPr>
          <a:xfrm>
            <a:off x="812800" y="3963670"/>
            <a:ext cx="6502400" cy="2081530"/>
          </a:xfrm>
          <a:custGeom>
            <a:avLst/>
            <a:gdLst/>
            <a:ahLst/>
            <a:cxnLst/>
            <a:rect l="l" t="t" r="r" b="b"/>
            <a:pathLst>
              <a:path w="6502400" h="2081530">
                <a:moveTo>
                  <a:pt x="101600" y="2081530"/>
                </a:moveTo>
                <a:lnTo>
                  <a:pt x="101600" y="2081530"/>
                </a:lnTo>
                <a:arcTo hR="101600" wR="101600" stAng="5400000" swAng="5400000"/>
                <a:lnTo>
                  <a:pt x="0" y="101600"/>
                </a:lnTo>
                <a:arcTo hR="101600" wR="101600" stAng="10800000" swAng="5400000"/>
                <a:lnTo>
                  <a:pt x="101600" y="0"/>
                </a:lnTo>
                <a:arcTo hR="101600" wR="50800" stAng="16200000" swAng="-5400000"/>
                <a:lnTo>
                  <a:pt x="50800" y="1979930"/>
                </a:lnTo>
                <a:arcTo hR="101600" wR="50800" stAng="10800000" swAng="-5400000"/>
                <a:close/>
              </a:path>
            </a:pathLst>
          </a:custGeom>
          <a:solidFill>
            <a:srgbClr val="4356FF"/>
          </a:solidFill>
          <a:ln/>
        </p:spPr>
      </p:sp>
      <p:sp>
        <p:nvSpPr>
          <p:cNvPr id="7" name="Text 5"/>
          <p:cNvSpPr/>
          <p:nvPr/>
        </p:nvSpPr>
        <p:spPr>
          <a:xfrm>
            <a:off x="1117600" y="4217670"/>
            <a:ext cx="612190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356FF"/>
                </a:solidFill>
                <a:latin typeface="Inter" pitchFamily="34" charset="0"/>
                <a:ea typeface="Inter" pitchFamily="34" charset="-122"/>
                <a:cs typeface="Inter" pitchFamily="34" charset="-120"/>
              </a:rPr>
              <a:t>PENNY SAYS</a:t>
            </a:r>
            <a:endParaRPr lang="en-US" sz="1300" dirty="0"/>
          </a:p>
        </p:txBody>
      </p:sp>
      <p:sp>
        <p:nvSpPr>
          <p:cNvPr id="8" name="Text 6"/>
          <p:cNvSpPr/>
          <p:nvPr/>
        </p:nvSpPr>
        <p:spPr>
          <a:xfrm>
            <a:off x="1117600" y="4550411"/>
            <a:ext cx="6121908" cy="95123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191919"/>
                </a:solidFill>
                <a:latin typeface="Inter" pitchFamily="34" charset="0"/>
                <a:ea typeface="Inter" pitchFamily="34" charset="-122"/>
                <a:cs typeface="Inter" pitchFamily="34" charset="-120"/>
              </a:rPr>
              <a:t>"You can safely move $166.90 to your Home Down Payment, because your spending was lower than usual last month."</a:t>
            </a:r>
            <a:endParaRPr lang="en-US" sz="1800" dirty="0"/>
          </a:p>
        </p:txBody>
      </p:sp>
      <p:sp>
        <p:nvSpPr>
          <p:cNvPr id="9" name="Text 7"/>
          <p:cNvSpPr/>
          <p:nvPr/>
        </p:nvSpPr>
        <p:spPr>
          <a:xfrm>
            <a:off x="1117600" y="5577841"/>
            <a:ext cx="61219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672"/>
                </a:solidFill>
                <a:latin typeface="Inter" pitchFamily="34" charset="0"/>
                <a:ea typeface="Inter" pitchFamily="34" charset="-122"/>
                <a:cs typeface="Inter" pitchFamily="34" charset="-120"/>
              </a:rPr>
              <a:t>One amount. One action. One reason. Readable in ten seconds.</a:t>
            </a:r>
            <a:endParaRPr lang="en-US" sz="1200" dirty="0"/>
          </a:p>
        </p:txBody>
      </p:sp>
      <p:sp>
        <p:nvSpPr>
          <p:cNvPr id="10" name="Shape 8"/>
          <p:cNvSpPr/>
          <p:nvPr/>
        </p:nvSpPr>
        <p:spPr>
          <a:xfrm>
            <a:off x="7832726" y="822326"/>
            <a:ext cx="3536950" cy="5213350"/>
          </a:xfrm>
          <a:prstGeom prst="roundRect">
            <a:avLst>
              <a:gd name="adj" fmla="val 4039"/>
            </a:avLst>
          </a:prstGeom>
          <a:solidFill>
            <a:srgbClr val="E8EBFF"/>
          </a:solidFill>
          <a:ln w="19050">
            <a:solidFill>
              <a:srgbClr val="4356FF"/>
            </a:solidFill>
            <a:prstDash val="dash"/>
          </a:ln>
        </p:spPr>
      </p:sp>
      <p:sp>
        <p:nvSpPr>
          <p:cNvPr id="11" name="Text 9"/>
          <p:cNvSpPr/>
          <p:nvPr/>
        </p:nvSpPr>
        <p:spPr>
          <a:xfrm>
            <a:off x="8048922" y="3180080"/>
            <a:ext cx="3104557" cy="52324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3EC4"/>
                </a:solidFill>
                <a:latin typeface="Inter" pitchFamily="34" charset="0"/>
                <a:ea typeface="Inter" pitchFamily="34" charset="-122"/>
                <a:cs typeface="Inter" pitchFamily="34" charset="-120"/>
              </a:rPr>
              <a:t>[Screenshot: phone view of the Coach screen for MBR-0026]</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91919"/>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F6FA"/>
                </a:solidFill>
                <a:latin typeface="Inter" pitchFamily="34" charset="0"/>
                <a:ea typeface="Inter" pitchFamily="34" charset="-122"/>
                <a:cs typeface="Inter" pitchFamily="34" charset="-120"/>
              </a:rPr>
              <a:t>Live demo</a:t>
            </a:r>
            <a:endParaRPr lang="en-US" sz="3600" dirty="0"/>
          </a:p>
        </p:txBody>
      </p:sp>
      <p:sp>
        <p:nvSpPr>
          <p:cNvPr id="3" name="Shape 1"/>
          <p:cNvSpPr/>
          <p:nvPr/>
        </p:nvSpPr>
        <p:spPr>
          <a:xfrm>
            <a:off x="812800" y="1620521"/>
            <a:ext cx="3420533" cy="1545590"/>
          </a:xfrm>
          <a:prstGeom prst="roundRect">
            <a:avLst>
              <a:gd name="adj" fmla="val 8217"/>
            </a:avLst>
          </a:prstGeom>
          <a:solidFill>
            <a:srgbClr val="26272B"/>
          </a:solidFill>
          <a:ln/>
        </p:spPr>
      </p:sp>
      <p:sp>
        <p:nvSpPr>
          <p:cNvPr id="4" name="Text 2"/>
          <p:cNvSpPr/>
          <p:nvPr/>
        </p:nvSpPr>
        <p:spPr>
          <a:xfrm>
            <a:off x="1041400" y="184912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01</a:t>
            </a:r>
            <a:endParaRPr lang="en-US" sz="1300" dirty="0"/>
          </a:p>
        </p:txBody>
      </p:sp>
      <p:sp>
        <p:nvSpPr>
          <p:cNvPr id="5" name="Text 3"/>
          <p:cNvSpPr/>
          <p:nvPr/>
        </p:nvSpPr>
        <p:spPr>
          <a:xfrm>
            <a:off x="1041400" y="2156461"/>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The recommendation</a:t>
            </a:r>
            <a:endParaRPr lang="en-US" sz="1700" dirty="0"/>
          </a:p>
        </p:txBody>
      </p:sp>
      <p:sp>
        <p:nvSpPr>
          <p:cNvPr id="6" name="Text 4"/>
          <p:cNvSpPr/>
          <p:nvPr/>
        </p:nvSpPr>
        <p:spPr>
          <a:xfrm>
            <a:off x="1041400" y="2491741"/>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$166.90 this payday, and the reason behind it.</a:t>
            </a:r>
            <a:endParaRPr lang="en-US" sz="1300" dirty="0"/>
          </a:p>
        </p:txBody>
      </p:sp>
      <p:sp>
        <p:nvSpPr>
          <p:cNvPr id="7" name="Shape 5"/>
          <p:cNvSpPr/>
          <p:nvPr/>
        </p:nvSpPr>
        <p:spPr>
          <a:xfrm>
            <a:off x="4385733" y="1620521"/>
            <a:ext cx="3420533" cy="1545590"/>
          </a:xfrm>
          <a:prstGeom prst="roundRect">
            <a:avLst>
              <a:gd name="adj" fmla="val 8217"/>
            </a:avLst>
          </a:prstGeom>
          <a:solidFill>
            <a:srgbClr val="26272B"/>
          </a:solidFill>
          <a:ln/>
        </p:spPr>
      </p:sp>
      <p:sp>
        <p:nvSpPr>
          <p:cNvPr id="8" name="Text 6"/>
          <p:cNvSpPr/>
          <p:nvPr/>
        </p:nvSpPr>
        <p:spPr>
          <a:xfrm>
            <a:off x="4614333" y="184912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02</a:t>
            </a:r>
            <a:endParaRPr lang="en-US" sz="1300" dirty="0"/>
          </a:p>
        </p:txBody>
      </p:sp>
      <p:sp>
        <p:nvSpPr>
          <p:cNvPr id="9" name="Text 7"/>
          <p:cNvSpPr/>
          <p:nvPr/>
        </p:nvSpPr>
        <p:spPr>
          <a:xfrm>
            <a:off x="4614333" y="2156461"/>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How we checked this</a:t>
            </a:r>
            <a:endParaRPr lang="en-US" sz="1700" dirty="0"/>
          </a:p>
        </p:txBody>
      </p:sp>
      <p:sp>
        <p:nvSpPr>
          <p:cNvPr id="10" name="Text 8"/>
          <p:cNvSpPr/>
          <p:nvPr/>
        </p:nvSpPr>
        <p:spPr>
          <a:xfrm>
            <a:off x="4614333" y="2491741"/>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Every number traced to the engine and source transactions.</a:t>
            </a:r>
            <a:endParaRPr lang="en-US" sz="1300" dirty="0"/>
          </a:p>
        </p:txBody>
      </p:sp>
      <p:sp>
        <p:nvSpPr>
          <p:cNvPr id="11" name="Shape 9"/>
          <p:cNvSpPr/>
          <p:nvPr/>
        </p:nvSpPr>
        <p:spPr>
          <a:xfrm>
            <a:off x="7958667" y="1620521"/>
            <a:ext cx="3420533" cy="1545590"/>
          </a:xfrm>
          <a:prstGeom prst="roundRect">
            <a:avLst>
              <a:gd name="adj" fmla="val 8217"/>
            </a:avLst>
          </a:prstGeom>
          <a:solidFill>
            <a:srgbClr val="26272B"/>
          </a:solidFill>
          <a:ln/>
        </p:spPr>
      </p:sp>
      <p:sp>
        <p:nvSpPr>
          <p:cNvPr id="12" name="Text 10"/>
          <p:cNvSpPr/>
          <p:nvPr/>
        </p:nvSpPr>
        <p:spPr>
          <a:xfrm>
            <a:off x="8187267" y="184912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03</a:t>
            </a:r>
            <a:endParaRPr lang="en-US" sz="1300" dirty="0"/>
          </a:p>
        </p:txBody>
      </p:sp>
      <p:sp>
        <p:nvSpPr>
          <p:cNvPr id="13" name="Text 11"/>
          <p:cNvSpPr/>
          <p:nvPr/>
        </p:nvSpPr>
        <p:spPr>
          <a:xfrm>
            <a:off x="8187267" y="2156461"/>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A missed week</a:t>
            </a:r>
            <a:endParaRPr lang="en-US" sz="1700" dirty="0"/>
          </a:p>
        </p:txBody>
      </p:sp>
      <p:sp>
        <p:nvSpPr>
          <p:cNvPr id="14" name="Text 12"/>
          <p:cNvSpPr/>
          <p:nvPr/>
        </p:nvSpPr>
        <p:spPr>
          <a:xfrm>
            <a:off x="8187267" y="2491741"/>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Money ran short. Penny offers a smaller step: $76.59.</a:t>
            </a:r>
            <a:endParaRPr lang="en-US" sz="1300" dirty="0"/>
          </a:p>
        </p:txBody>
      </p:sp>
      <p:sp>
        <p:nvSpPr>
          <p:cNvPr id="15" name="Shape 13"/>
          <p:cNvSpPr/>
          <p:nvPr/>
        </p:nvSpPr>
        <p:spPr>
          <a:xfrm>
            <a:off x="812800" y="3470911"/>
            <a:ext cx="3420533" cy="1545590"/>
          </a:xfrm>
          <a:prstGeom prst="roundRect">
            <a:avLst>
              <a:gd name="adj" fmla="val 8217"/>
            </a:avLst>
          </a:prstGeom>
          <a:solidFill>
            <a:srgbClr val="26272B"/>
          </a:solidFill>
          <a:ln/>
        </p:spPr>
      </p:sp>
      <p:sp>
        <p:nvSpPr>
          <p:cNvPr id="16" name="Text 14"/>
          <p:cNvSpPr/>
          <p:nvPr/>
        </p:nvSpPr>
        <p:spPr>
          <a:xfrm>
            <a:off x="1041400" y="369951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04</a:t>
            </a:r>
            <a:endParaRPr lang="en-US" sz="1300" dirty="0"/>
          </a:p>
        </p:txBody>
      </p:sp>
      <p:sp>
        <p:nvSpPr>
          <p:cNvPr id="17" name="Text 15"/>
          <p:cNvSpPr/>
          <p:nvPr/>
        </p:nvSpPr>
        <p:spPr>
          <a:xfrm>
            <a:off x="1041400" y="4006852"/>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A partial win</a:t>
            </a:r>
            <a:endParaRPr lang="en-US" sz="1700" dirty="0"/>
          </a:p>
        </p:txBody>
      </p:sp>
      <p:sp>
        <p:nvSpPr>
          <p:cNvPr id="18" name="Text 16"/>
          <p:cNvSpPr/>
          <p:nvPr/>
        </p:nvSpPr>
        <p:spPr>
          <a:xfrm>
            <a:off x="1041400" y="4342130"/>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$17.40 saved, and Penny counts it as progress.</a:t>
            </a:r>
            <a:endParaRPr lang="en-US" sz="1300" dirty="0"/>
          </a:p>
        </p:txBody>
      </p:sp>
      <p:sp>
        <p:nvSpPr>
          <p:cNvPr id="19" name="Shape 17"/>
          <p:cNvSpPr/>
          <p:nvPr/>
        </p:nvSpPr>
        <p:spPr>
          <a:xfrm>
            <a:off x="4385733" y="3470911"/>
            <a:ext cx="3420533" cy="1545590"/>
          </a:xfrm>
          <a:prstGeom prst="roundRect">
            <a:avLst>
              <a:gd name="adj" fmla="val 8217"/>
            </a:avLst>
          </a:prstGeom>
          <a:solidFill>
            <a:srgbClr val="26272B"/>
          </a:solidFill>
          <a:ln/>
        </p:spPr>
      </p:sp>
      <p:sp>
        <p:nvSpPr>
          <p:cNvPr id="20" name="Text 18"/>
          <p:cNvSpPr/>
          <p:nvPr/>
        </p:nvSpPr>
        <p:spPr>
          <a:xfrm>
            <a:off x="4614333" y="369951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05</a:t>
            </a:r>
            <a:endParaRPr lang="en-US" sz="1300" dirty="0"/>
          </a:p>
        </p:txBody>
      </p:sp>
      <p:sp>
        <p:nvSpPr>
          <p:cNvPr id="21" name="Text 19"/>
          <p:cNvSpPr/>
          <p:nvPr/>
        </p:nvSpPr>
        <p:spPr>
          <a:xfrm>
            <a:off x="4614333" y="4006852"/>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Catch a bad number</a:t>
            </a:r>
            <a:endParaRPr lang="en-US" sz="1700" dirty="0"/>
          </a:p>
        </p:txBody>
      </p:sp>
      <p:sp>
        <p:nvSpPr>
          <p:cNvPr id="22" name="Text 20"/>
          <p:cNvSpPr/>
          <p:nvPr/>
        </p:nvSpPr>
        <p:spPr>
          <a:xfrm>
            <a:off x="4614333" y="4342130"/>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We corrupt the AI message. The validator blocks it.</a:t>
            </a:r>
            <a:endParaRPr lang="en-US" sz="1300" dirty="0"/>
          </a:p>
        </p:txBody>
      </p:sp>
      <p:sp>
        <p:nvSpPr>
          <p:cNvPr id="23" name="Shape 21"/>
          <p:cNvSpPr/>
          <p:nvPr/>
        </p:nvSpPr>
        <p:spPr>
          <a:xfrm>
            <a:off x="7958667" y="3470911"/>
            <a:ext cx="3420533" cy="1545590"/>
          </a:xfrm>
          <a:prstGeom prst="roundRect">
            <a:avLst>
              <a:gd name="adj" fmla="val 8217"/>
            </a:avLst>
          </a:prstGeom>
          <a:solidFill>
            <a:srgbClr val="26272B"/>
          </a:solidFill>
          <a:ln/>
        </p:spPr>
      </p:sp>
      <p:sp>
        <p:nvSpPr>
          <p:cNvPr id="24" name="Text 22"/>
          <p:cNvSpPr/>
          <p:nvPr/>
        </p:nvSpPr>
        <p:spPr>
          <a:xfrm>
            <a:off x="8187267" y="3699511"/>
            <a:ext cx="305223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99FF"/>
                </a:solidFill>
                <a:latin typeface="Inter" pitchFamily="34" charset="0"/>
                <a:ea typeface="Inter" pitchFamily="34" charset="-122"/>
                <a:cs typeface="Inter" pitchFamily="34" charset="-120"/>
              </a:rPr>
              <a:t>06</a:t>
            </a:r>
            <a:endParaRPr lang="en-US" sz="1300" dirty="0"/>
          </a:p>
        </p:txBody>
      </p:sp>
      <p:sp>
        <p:nvSpPr>
          <p:cNvPr id="25" name="Text 23"/>
          <p:cNvSpPr/>
          <p:nvPr/>
        </p:nvSpPr>
        <p:spPr>
          <a:xfrm>
            <a:off x="8187267" y="4006852"/>
            <a:ext cx="305223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5F6FA"/>
                </a:solidFill>
                <a:latin typeface="Inter" pitchFamily="34" charset="0"/>
                <a:ea typeface="Inter" pitchFamily="34" charset="-122"/>
                <a:cs typeface="Inter" pitchFamily="34" charset="-120"/>
              </a:rPr>
              <a:t>Knowing when to stop</a:t>
            </a:r>
            <a:endParaRPr lang="en-US" sz="1700" dirty="0"/>
          </a:p>
        </p:txBody>
      </p:sp>
      <p:sp>
        <p:nvSpPr>
          <p:cNvPr id="26" name="Text 24"/>
          <p:cNvSpPr/>
          <p:nvPr/>
        </p:nvSpPr>
        <p:spPr>
          <a:xfrm>
            <a:off x="8187267" y="4342130"/>
            <a:ext cx="3052233"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C9CCD6"/>
                </a:solidFill>
                <a:latin typeface="Inter" pitchFamily="34" charset="0"/>
                <a:ea typeface="Inter" pitchFamily="34" charset="-122"/>
                <a:cs typeface="Inter" pitchFamily="34" charset="-120"/>
              </a:rPr>
              <a:t>MBR-0062 goes to a real person. Then all 100 members.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91919"/>
                </a:solidFill>
                <a:latin typeface="Inter" pitchFamily="34" charset="0"/>
                <a:ea typeface="Inter" pitchFamily="34" charset="-122"/>
                <a:cs typeface="Inter" pitchFamily="34" charset="-120"/>
              </a:rPr>
              <a:t>How we know it's accurate</a:t>
            </a:r>
            <a:endParaRPr lang="en-US" sz="3600" dirty="0"/>
          </a:p>
        </p:txBody>
      </p:sp>
      <p:sp>
        <p:nvSpPr>
          <p:cNvPr id="3" name="Shape 1"/>
          <p:cNvSpPr/>
          <p:nvPr/>
        </p:nvSpPr>
        <p:spPr>
          <a:xfrm>
            <a:off x="812800" y="1569720"/>
            <a:ext cx="1176496" cy="485140"/>
          </a:xfrm>
          <a:prstGeom prst="roundRect">
            <a:avLst>
              <a:gd name="adj" fmla="val 50000"/>
            </a:avLst>
          </a:prstGeom>
          <a:solidFill>
            <a:srgbClr val="E8EBFF"/>
          </a:solidFill>
          <a:ln/>
        </p:spPr>
      </p:sp>
      <p:sp>
        <p:nvSpPr>
          <p:cNvPr id="4" name="Text 2"/>
          <p:cNvSpPr/>
          <p:nvPr/>
        </p:nvSpPr>
        <p:spPr>
          <a:xfrm>
            <a:off x="990600" y="1696720"/>
            <a:ext cx="87169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3EC4"/>
                </a:solidFill>
                <a:latin typeface="Inter" pitchFamily="34" charset="0"/>
                <a:ea typeface="Inter" pitchFamily="34" charset="-122"/>
                <a:cs typeface="Inter" pitchFamily="34" charset="-120"/>
              </a:rPr>
              <a:t>Workbook</a:t>
            </a:r>
            <a:endParaRPr lang="en-US" sz="1300" dirty="0"/>
          </a:p>
        </p:txBody>
      </p:sp>
      <p:sp>
        <p:nvSpPr>
          <p:cNvPr id="5" name="Text 3"/>
          <p:cNvSpPr/>
          <p:nvPr/>
        </p:nvSpPr>
        <p:spPr>
          <a:xfrm>
            <a:off x="2090896" y="1670050"/>
            <a:ext cx="254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2"/>
                </a:solidFill>
                <a:latin typeface="Inter" pitchFamily="34" charset="0"/>
                <a:ea typeface="Inter" pitchFamily="34" charset="-122"/>
                <a:cs typeface="Inter" pitchFamily="34" charset="-120"/>
              </a:rPr>
              <a:t>→</a:t>
            </a:r>
            <a:endParaRPr lang="en-US" sz="1600" dirty="0"/>
          </a:p>
        </p:txBody>
      </p:sp>
      <p:sp>
        <p:nvSpPr>
          <p:cNvPr id="6" name="Shape 4"/>
          <p:cNvSpPr/>
          <p:nvPr/>
        </p:nvSpPr>
        <p:spPr>
          <a:xfrm>
            <a:off x="2395696" y="1569720"/>
            <a:ext cx="1318472" cy="485140"/>
          </a:xfrm>
          <a:prstGeom prst="roundRect">
            <a:avLst>
              <a:gd name="adj" fmla="val 50000"/>
            </a:avLst>
          </a:prstGeom>
          <a:solidFill>
            <a:srgbClr val="E8EBFF"/>
          </a:solidFill>
          <a:ln/>
        </p:spPr>
      </p:sp>
      <p:sp>
        <p:nvSpPr>
          <p:cNvPr id="7" name="Text 5"/>
          <p:cNvSpPr/>
          <p:nvPr/>
        </p:nvSpPr>
        <p:spPr>
          <a:xfrm>
            <a:off x="2573496" y="1696720"/>
            <a:ext cx="101367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3EC4"/>
                </a:solidFill>
                <a:latin typeface="Inter" pitchFamily="34" charset="0"/>
                <a:ea typeface="Inter" pitchFamily="34" charset="-122"/>
                <a:cs typeface="Inter" pitchFamily="34" charset="-120"/>
              </a:rPr>
              <a:t>Quality gate</a:t>
            </a:r>
            <a:endParaRPr lang="en-US" sz="1300" dirty="0"/>
          </a:p>
        </p:txBody>
      </p:sp>
      <p:sp>
        <p:nvSpPr>
          <p:cNvPr id="8" name="Text 6"/>
          <p:cNvSpPr/>
          <p:nvPr/>
        </p:nvSpPr>
        <p:spPr>
          <a:xfrm>
            <a:off x="3815768" y="1670050"/>
            <a:ext cx="254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2"/>
                </a:solidFill>
                <a:latin typeface="Inter" pitchFamily="34" charset="0"/>
                <a:ea typeface="Inter" pitchFamily="34" charset="-122"/>
                <a:cs typeface="Inter" pitchFamily="34" charset="-120"/>
              </a:rPr>
              <a:t>→</a:t>
            </a:r>
            <a:endParaRPr lang="en-US" sz="1600" dirty="0"/>
          </a:p>
        </p:txBody>
      </p:sp>
      <p:sp>
        <p:nvSpPr>
          <p:cNvPr id="9" name="Shape 7"/>
          <p:cNvSpPr/>
          <p:nvPr/>
        </p:nvSpPr>
        <p:spPr>
          <a:xfrm>
            <a:off x="4120568" y="1569720"/>
            <a:ext cx="2570374" cy="485140"/>
          </a:xfrm>
          <a:prstGeom prst="roundRect">
            <a:avLst>
              <a:gd name="adj" fmla="val 50000"/>
            </a:avLst>
          </a:prstGeom>
          <a:solidFill>
            <a:srgbClr val="4356FF"/>
          </a:solidFill>
          <a:ln/>
        </p:spPr>
      </p:sp>
      <p:sp>
        <p:nvSpPr>
          <p:cNvPr id="10" name="Text 8"/>
          <p:cNvSpPr/>
          <p:nvPr/>
        </p:nvSpPr>
        <p:spPr>
          <a:xfrm>
            <a:off x="4298368" y="1696720"/>
            <a:ext cx="228121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6FA"/>
                </a:solidFill>
                <a:latin typeface="Inter" pitchFamily="34" charset="0"/>
                <a:ea typeface="Inter" pitchFamily="34" charset="-122"/>
                <a:cs typeface="Inter" pitchFamily="34" charset="-120"/>
              </a:rPr>
              <a:t>Engine: code does the math</a:t>
            </a:r>
            <a:endParaRPr lang="en-US" sz="1300" dirty="0"/>
          </a:p>
        </p:txBody>
      </p:sp>
      <p:sp>
        <p:nvSpPr>
          <p:cNvPr id="11" name="Text 9"/>
          <p:cNvSpPr/>
          <p:nvPr/>
        </p:nvSpPr>
        <p:spPr>
          <a:xfrm>
            <a:off x="6792543" y="1670050"/>
            <a:ext cx="254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2"/>
                </a:solidFill>
                <a:latin typeface="Inter" pitchFamily="34" charset="0"/>
                <a:ea typeface="Inter" pitchFamily="34" charset="-122"/>
                <a:cs typeface="Inter" pitchFamily="34" charset="-120"/>
              </a:rPr>
              <a:t>→</a:t>
            </a:r>
            <a:endParaRPr lang="en-US" sz="1600" dirty="0"/>
          </a:p>
        </p:txBody>
      </p:sp>
      <p:sp>
        <p:nvSpPr>
          <p:cNvPr id="12" name="Shape 10"/>
          <p:cNvSpPr/>
          <p:nvPr/>
        </p:nvSpPr>
        <p:spPr>
          <a:xfrm>
            <a:off x="7097343" y="1569720"/>
            <a:ext cx="2482744" cy="485140"/>
          </a:xfrm>
          <a:prstGeom prst="roundRect">
            <a:avLst>
              <a:gd name="adj" fmla="val 50000"/>
            </a:avLst>
          </a:prstGeom>
          <a:solidFill>
            <a:srgbClr val="E8EBFF"/>
          </a:solidFill>
          <a:ln/>
        </p:spPr>
      </p:sp>
      <p:sp>
        <p:nvSpPr>
          <p:cNvPr id="13" name="Text 11"/>
          <p:cNvSpPr/>
          <p:nvPr/>
        </p:nvSpPr>
        <p:spPr>
          <a:xfrm>
            <a:off x="7275143" y="1696720"/>
            <a:ext cx="219095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F3EC4"/>
                </a:solidFill>
                <a:latin typeface="Inter" pitchFamily="34" charset="0"/>
                <a:ea typeface="Inter" pitchFamily="34" charset="-122"/>
                <a:cs typeface="Inter" pitchFamily="34" charset="-120"/>
              </a:rPr>
              <a:t>Penny: AI writes the words</a:t>
            </a:r>
            <a:endParaRPr lang="en-US" sz="1300" dirty="0"/>
          </a:p>
        </p:txBody>
      </p:sp>
      <p:sp>
        <p:nvSpPr>
          <p:cNvPr id="14" name="Text 12"/>
          <p:cNvSpPr/>
          <p:nvPr/>
        </p:nvSpPr>
        <p:spPr>
          <a:xfrm>
            <a:off x="9681687" y="1670050"/>
            <a:ext cx="2540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6672"/>
                </a:solidFill>
                <a:latin typeface="Inter" pitchFamily="34" charset="0"/>
                <a:ea typeface="Inter" pitchFamily="34" charset="-122"/>
                <a:cs typeface="Inter" pitchFamily="34" charset="-120"/>
              </a:rPr>
              <a:t>→</a:t>
            </a:r>
            <a:endParaRPr lang="en-US" sz="1600" dirty="0"/>
          </a:p>
        </p:txBody>
      </p:sp>
      <p:sp>
        <p:nvSpPr>
          <p:cNvPr id="15" name="Shape 13"/>
          <p:cNvSpPr/>
          <p:nvPr/>
        </p:nvSpPr>
        <p:spPr>
          <a:xfrm>
            <a:off x="9986487" y="1569720"/>
            <a:ext cx="1068229" cy="485140"/>
          </a:xfrm>
          <a:prstGeom prst="roundRect">
            <a:avLst>
              <a:gd name="adj" fmla="val 50000"/>
            </a:avLst>
          </a:prstGeom>
          <a:solidFill>
            <a:srgbClr val="4356FF"/>
          </a:solidFill>
          <a:ln/>
        </p:spPr>
      </p:sp>
      <p:sp>
        <p:nvSpPr>
          <p:cNvPr id="16" name="Text 14"/>
          <p:cNvSpPr/>
          <p:nvPr/>
        </p:nvSpPr>
        <p:spPr>
          <a:xfrm>
            <a:off x="10164287" y="1696720"/>
            <a:ext cx="76342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F6FA"/>
                </a:solidFill>
                <a:latin typeface="Inter" pitchFamily="34" charset="0"/>
                <a:ea typeface="Inter" pitchFamily="34" charset="-122"/>
                <a:cs typeface="Inter" pitchFamily="34" charset="-120"/>
              </a:rPr>
              <a:t>Validator</a:t>
            </a:r>
            <a:endParaRPr lang="en-US" sz="1300" dirty="0"/>
          </a:p>
        </p:txBody>
      </p:sp>
      <p:sp>
        <p:nvSpPr>
          <p:cNvPr id="17" name="Shape 15"/>
          <p:cNvSpPr/>
          <p:nvPr/>
        </p:nvSpPr>
        <p:spPr>
          <a:xfrm>
            <a:off x="812800" y="2308859"/>
            <a:ext cx="3276600" cy="1333500"/>
          </a:xfrm>
          <a:prstGeom prst="roundRect">
            <a:avLst>
              <a:gd name="adj" fmla="val 9524"/>
            </a:avLst>
          </a:prstGeom>
          <a:solidFill>
            <a:srgbClr val="FDFDFF"/>
          </a:solidFill>
          <a:ln/>
        </p:spPr>
      </p:sp>
      <p:sp>
        <p:nvSpPr>
          <p:cNvPr id="18" name="Text 16"/>
          <p:cNvSpPr/>
          <p:nvPr/>
        </p:nvSpPr>
        <p:spPr>
          <a:xfrm>
            <a:off x="1016000" y="2512059"/>
            <a:ext cx="295630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356FF"/>
                </a:solidFill>
                <a:latin typeface="Inter" pitchFamily="34" charset="0"/>
                <a:ea typeface="Inter" pitchFamily="34" charset="-122"/>
                <a:cs typeface="Inter" pitchFamily="34" charset="-120"/>
              </a:rPr>
              <a:t>$0.00</a:t>
            </a:r>
            <a:endParaRPr lang="en-US" sz="3200" dirty="0"/>
          </a:p>
        </p:txBody>
      </p:sp>
      <p:sp>
        <p:nvSpPr>
          <p:cNvPr id="19" name="Text 17"/>
          <p:cNvSpPr/>
          <p:nvPr/>
        </p:nvSpPr>
        <p:spPr>
          <a:xfrm>
            <a:off x="1016000" y="3009900"/>
            <a:ext cx="295630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F6672"/>
                </a:solidFill>
                <a:latin typeface="Inter" pitchFamily="34" charset="0"/>
                <a:ea typeface="Inter" pitchFamily="34" charset="-122"/>
                <a:cs typeface="Inter" pitchFamily="34" charset="-120"/>
              </a:rPr>
              <a:t>difference between two independent calculations</a:t>
            </a:r>
            <a:endParaRPr lang="en-US" sz="1300" dirty="0"/>
          </a:p>
        </p:txBody>
      </p:sp>
      <p:sp>
        <p:nvSpPr>
          <p:cNvPr id="20" name="Shape 18"/>
          <p:cNvSpPr/>
          <p:nvPr/>
        </p:nvSpPr>
        <p:spPr>
          <a:xfrm>
            <a:off x="4241800" y="2308859"/>
            <a:ext cx="3276600" cy="1333500"/>
          </a:xfrm>
          <a:prstGeom prst="roundRect">
            <a:avLst>
              <a:gd name="adj" fmla="val 9524"/>
            </a:avLst>
          </a:prstGeom>
          <a:solidFill>
            <a:srgbClr val="FDFDFF"/>
          </a:solidFill>
          <a:ln/>
        </p:spPr>
      </p:sp>
      <p:sp>
        <p:nvSpPr>
          <p:cNvPr id="21" name="Text 19"/>
          <p:cNvSpPr/>
          <p:nvPr/>
        </p:nvSpPr>
        <p:spPr>
          <a:xfrm>
            <a:off x="4445000" y="2512059"/>
            <a:ext cx="295630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356FF"/>
                </a:solidFill>
                <a:latin typeface="Inter" pitchFamily="34" charset="0"/>
                <a:ea typeface="Inter" pitchFamily="34" charset="-122"/>
                <a:cs typeface="Inter" pitchFamily="34" charset="-120"/>
              </a:rPr>
              <a:t>[75]</a:t>
            </a:r>
            <a:endParaRPr lang="en-US" sz="3200" dirty="0"/>
          </a:p>
        </p:txBody>
      </p:sp>
      <p:sp>
        <p:nvSpPr>
          <p:cNvPr id="22" name="Text 20"/>
          <p:cNvSpPr/>
          <p:nvPr/>
        </p:nvSpPr>
        <p:spPr>
          <a:xfrm>
            <a:off x="4445000" y="3009900"/>
            <a:ext cx="295630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F6672"/>
                </a:solidFill>
                <a:latin typeface="Inter" pitchFamily="34" charset="0"/>
                <a:ea typeface="Inter" pitchFamily="34" charset="-122"/>
                <a:cs typeface="Inter" pitchFamily="34" charset="-120"/>
              </a:rPr>
              <a:t>automated tests, including wrong numbers being blocked</a:t>
            </a:r>
            <a:endParaRPr lang="en-US" sz="1300" dirty="0"/>
          </a:p>
        </p:txBody>
      </p:sp>
      <p:sp>
        <p:nvSpPr>
          <p:cNvPr id="23" name="Shape 21"/>
          <p:cNvSpPr/>
          <p:nvPr/>
        </p:nvSpPr>
        <p:spPr>
          <a:xfrm>
            <a:off x="812800" y="3794759"/>
            <a:ext cx="3276600" cy="1333500"/>
          </a:xfrm>
          <a:prstGeom prst="roundRect">
            <a:avLst>
              <a:gd name="adj" fmla="val 9524"/>
            </a:avLst>
          </a:prstGeom>
          <a:solidFill>
            <a:srgbClr val="FDFDFF"/>
          </a:solidFill>
          <a:ln/>
        </p:spPr>
      </p:sp>
      <p:sp>
        <p:nvSpPr>
          <p:cNvPr id="24" name="Text 22"/>
          <p:cNvSpPr/>
          <p:nvPr/>
        </p:nvSpPr>
        <p:spPr>
          <a:xfrm>
            <a:off x="1016000" y="3997959"/>
            <a:ext cx="295630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356FF"/>
                </a:solidFill>
                <a:latin typeface="Inter" pitchFamily="34" charset="0"/>
                <a:ea typeface="Inter" pitchFamily="34" charset="-122"/>
                <a:cs typeface="Inter" pitchFamily="34" charset="-120"/>
              </a:rPr>
              <a:t>4</a:t>
            </a:r>
            <a:endParaRPr lang="en-US" sz="3200" dirty="0"/>
          </a:p>
        </p:txBody>
      </p:sp>
      <p:sp>
        <p:nvSpPr>
          <p:cNvPr id="25" name="Text 23"/>
          <p:cNvSpPr/>
          <p:nvPr/>
        </p:nvSpPr>
        <p:spPr>
          <a:xfrm>
            <a:off x="1016000" y="4495800"/>
            <a:ext cx="295630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F6672"/>
                </a:solidFill>
                <a:latin typeface="Inter" pitchFamily="34" charset="0"/>
                <a:ea typeface="Inter" pitchFamily="34" charset="-122"/>
                <a:cs typeface="Inter" pitchFamily="34" charset="-120"/>
              </a:rPr>
              <a:t>numbers the AI is allowed to quote. Anything else is blocked.</a:t>
            </a:r>
            <a:endParaRPr lang="en-US" sz="1300" dirty="0"/>
          </a:p>
        </p:txBody>
      </p:sp>
      <p:sp>
        <p:nvSpPr>
          <p:cNvPr id="26" name="Shape 24"/>
          <p:cNvSpPr/>
          <p:nvPr/>
        </p:nvSpPr>
        <p:spPr>
          <a:xfrm>
            <a:off x="4241800" y="3794759"/>
            <a:ext cx="3276600" cy="1333500"/>
          </a:xfrm>
          <a:prstGeom prst="roundRect">
            <a:avLst>
              <a:gd name="adj" fmla="val 9524"/>
            </a:avLst>
          </a:prstGeom>
          <a:solidFill>
            <a:srgbClr val="FDFDFF"/>
          </a:solidFill>
          <a:ln/>
        </p:spPr>
      </p:sp>
      <p:sp>
        <p:nvSpPr>
          <p:cNvPr id="27" name="Text 25"/>
          <p:cNvSpPr/>
          <p:nvPr/>
        </p:nvSpPr>
        <p:spPr>
          <a:xfrm>
            <a:off x="4445000" y="3997959"/>
            <a:ext cx="295630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4356FF"/>
                </a:solidFill>
                <a:latin typeface="Inter" pitchFamily="34" charset="0"/>
                <a:ea typeface="Inter" pitchFamily="34" charset="-122"/>
                <a:cs typeface="Inter" pitchFamily="34" charset="-120"/>
              </a:rPr>
              <a:t>10/10</a:t>
            </a:r>
            <a:endParaRPr lang="en-US" sz="3200" dirty="0"/>
          </a:p>
        </p:txBody>
      </p:sp>
      <p:sp>
        <p:nvSpPr>
          <p:cNvPr id="28" name="Text 26"/>
          <p:cNvSpPr/>
          <p:nvPr/>
        </p:nvSpPr>
        <p:spPr>
          <a:xfrm>
            <a:off x="4445000" y="4495800"/>
            <a:ext cx="295630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F6672"/>
                </a:solidFill>
                <a:latin typeface="Inter" pitchFamily="34" charset="0"/>
                <a:ea typeface="Inter" pitchFamily="34" charset="-122"/>
                <a:cs typeface="Inter" pitchFamily="34" charset="-120"/>
              </a:rPr>
              <a:t>live AI runs passed the validator</a:t>
            </a:r>
            <a:endParaRPr lang="en-US" sz="1300" dirty="0"/>
          </a:p>
        </p:txBody>
      </p:sp>
      <p:sp>
        <p:nvSpPr>
          <p:cNvPr id="29" name="Shape 27"/>
          <p:cNvSpPr/>
          <p:nvPr/>
        </p:nvSpPr>
        <p:spPr>
          <a:xfrm>
            <a:off x="812800" y="5280659"/>
            <a:ext cx="6705600" cy="734060"/>
          </a:xfrm>
          <a:prstGeom prst="roundRect">
            <a:avLst>
              <a:gd name="adj" fmla="val 13841"/>
            </a:avLst>
          </a:prstGeom>
          <a:solidFill>
            <a:srgbClr val="FDFDFF"/>
          </a:solidFill>
          <a:ln/>
        </p:spPr>
      </p:sp>
      <p:sp>
        <p:nvSpPr>
          <p:cNvPr id="30" name="Shape 28"/>
          <p:cNvSpPr/>
          <p:nvPr/>
        </p:nvSpPr>
        <p:spPr>
          <a:xfrm>
            <a:off x="812800" y="5280659"/>
            <a:ext cx="6705600" cy="734060"/>
          </a:xfrm>
          <a:custGeom>
            <a:avLst/>
            <a:gdLst/>
            <a:ahLst/>
            <a:cxnLst/>
            <a:rect l="l" t="t" r="r" b="b"/>
            <a:pathLst>
              <a:path w="6705600" h="734060">
                <a:moveTo>
                  <a:pt x="101600" y="734060"/>
                </a:moveTo>
                <a:lnTo>
                  <a:pt x="101600" y="734060"/>
                </a:lnTo>
                <a:arcTo hR="101600" wR="101600" stAng="5400000" swAng="5400000"/>
                <a:lnTo>
                  <a:pt x="0" y="101600"/>
                </a:lnTo>
                <a:arcTo hR="101600" wR="101600" stAng="10800000" swAng="5400000"/>
                <a:lnTo>
                  <a:pt x="101600" y="0"/>
                </a:lnTo>
                <a:arcTo hR="101600" wR="50800" stAng="16200000" swAng="-5400000"/>
                <a:lnTo>
                  <a:pt x="50800" y="632460"/>
                </a:lnTo>
                <a:arcTo hR="101600" wR="50800" stAng="10800000" swAng="-5400000"/>
                <a:close/>
              </a:path>
            </a:pathLst>
          </a:custGeom>
          <a:solidFill>
            <a:srgbClr val="2F855A"/>
          </a:solidFill>
          <a:ln/>
        </p:spPr>
      </p:sp>
      <p:sp>
        <p:nvSpPr>
          <p:cNvPr id="31" name="Text 29"/>
          <p:cNvSpPr/>
          <p:nvPr/>
        </p:nvSpPr>
        <p:spPr>
          <a:xfrm>
            <a:off x="1066800" y="5433059"/>
            <a:ext cx="6435852" cy="454660"/>
          </a:xfrm>
          <a:prstGeom prst="rect">
            <a:avLst/>
          </a:prstGeom>
          <a:noFill/>
          <a:ln/>
        </p:spPr>
        <p:txBody>
          <a:bodyPr wrap="square" lIns="0" tIns="0" rIns="0" bIns="0" rtlCol="0" anchor="t">
            <a:normAutofit/>
          </a:bodyPr>
          <a:lstStyle/>
          <a:p>
            <a:pPr algn="l" indent="0" marL="0">
              <a:lnSpc>
                <a:spcPts val="1690"/>
              </a:lnSpc>
              <a:buNone/>
            </a:pPr>
            <a:r>
              <a:rPr lang="en-US" sz="1300" b="1" dirty="0">
                <a:solidFill>
                  <a:srgbClr val="191919"/>
                </a:solidFill>
                <a:latin typeface="Inter" pitchFamily="34" charset="0"/>
                <a:ea typeface="Inter" pitchFamily="34" charset="-122"/>
                <a:cs typeface="Inter" pitchFamily="34" charset="-120"/>
              </a:rPr>
              <a:t>Real catch:</a:t>
            </a:r>
            <a:r>
              <a:rPr lang="en-US" sz="1300" dirty="0">
                <a:solidFill>
                  <a:srgbClr val="191919"/>
                </a:solidFill>
                <a:latin typeface="Inter" pitchFamily="34" charset="0"/>
                <a:ea typeface="Inter" pitchFamily="34" charset="-122"/>
                <a:cs typeface="Inter" pitchFamily="34" charset="-120"/>
              </a:rPr>
              <a:t> the AI wrote "69%" and "two-thirds of the way there." Both were stopped before a member saw them.</a:t>
            </a:r>
            <a:endParaRPr lang="en-US" sz="1300" dirty="0"/>
          </a:p>
        </p:txBody>
      </p:sp>
      <p:sp>
        <p:nvSpPr>
          <p:cNvPr id="32" name="Shape 30"/>
          <p:cNvSpPr/>
          <p:nvPr/>
        </p:nvSpPr>
        <p:spPr>
          <a:xfrm>
            <a:off x="7832726" y="2318384"/>
            <a:ext cx="3536950" cy="3717290"/>
          </a:xfrm>
          <a:prstGeom prst="roundRect">
            <a:avLst>
              <a:gd name="adj" fmla="val 4039"/>
            </a:avLst>
          </a:prstGeom>
          <a:solidFill>
            <a:srgbClr val="E8EBFF"/>
          </a:solidFill>
          <a:ln w="19050">
            <a:solidFill>
              <a:srgbClr val="4356FF"/>
            </a:solidFill>
            <a:prstDash val="dash"/>
          </a:ln>
        </p:spPr>
      </p:sp>
      <p:sp>
        <p:nvSpPr>
          <p:cNvPr id="33" name="Text 31"/>
          <p:cNvSpPr/>
          <p:nvPr/>
        </p:nvSpPr>
        <p:spPr>
          <a:xfrm>
            <a:off x="8048922" y="3928109"/>
            <a:ext cx="3104557" cy="52324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3EC4"/>
                </a:solidFill>
                <a:latin typeface="Inter" pitchFamily="34" charset="0"/>
                <a:ea typeface="Inter" pitchFamily="34" charset="-122"/>
                <a:cs typeface="Inter" pitchFamily="34" charset="-120"/>
              </a:rPr>
              <a:t>[Screenshot: "How we checked this" panel, or the validator code]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91919"/>
                </a:solidFill>
                <a:latin typeface="Inter" pitchFamily="34" charset="0"/>
                <a:ea typeface="Inter" pitchFamily="34" charset="-122"/>
                <a:cs typeface="Inter" pitchFamily="34" charset="-120"/>
              </a:rPr>
              <a:t>What the data told us</a:t>
            </a:r>
            <a:endParaRPr lang="en-US" sz="3600" dirty="0"/>
          </a:p>
        </p:txBody>
      </p:sp>
      <p:sp>
        <p:nvSpPr>
          <p:cNvPr id="3" name="Shape 1"/>
          <p:cNvSpPr/>
          <p:nvPr/>
        </p:nvSpPr>
        <p:spPr>
          <a:xfrm>
            <a:off x="822325" y="1579246"/>
            <a:ext cx="5670550" cy="4456430"/>
          </a:xfrm>
          <a:prstGeom prst="roundRect">
            <a:avLst>
              <a:gd name="adj" fmla="val 3206"/>
            </a:avLst>
          </a:prstGeom>
          <a:solidFill>
            <a:srgbClr val="E8EBFF"/>
          </a:solidFill>
          <a:ln w="19050">
            <a:solidFill>
              <a:srgbClr val="4356FF"/>
            </a:solidFill>
            <a:prstDash val="dash"/>
          </a:ln>
        </p:spPr>
      </p:sp>
      <p:sp>
        <p:nvSpPr>
          <p:cNvPr id="4" name="Text 2"/>
          <p:cNvSpPr/>
          <p:nvPr/>
        </p:nvSpPr>
        <p:spPr>
          <a:xfrm>
            <a:off x="1006517" y="3558542"/>
            <a:ext cx="5302165" cy="52324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2F3EC4"/>
                </a:solidFill>
                <a:latin typeface="Inter" pitchFamily="34" charset="0"/>
                <a:ea typeface="Inter" pitchFamily="34" charset="-122"/>
                <a:cs typeface="Inter" pitchFamily="34" charset="-120"/>
              </a:rPr>
              <a:t>[Image: ER diagram, "Normalized database design" or "Our normalized database"]</a:t>
            </a:r>
            <a:endParaRPr lang="en-US" sz="1400" dirty="0"/>
          </a:p>
        </p:txBody>
      </p:sp>
      <p:sp>
        <p:nvSpPr>
          <p:cNvPr id="5" name="Shape 3"/>
          <p:cNvSpPr/>
          <p:nvPr/>
        </p:nvSpPr>
        <p:spPr>
          <a:xfrm>
            <a:off x="6807200" y="1569721"/>
            <a:ext cx="4572000" cy="1033039"/>
          </a:xfrm>
          <a:prstGeom prst="roundRect">
            <a:avLst>
              <a:gd name="adj" fmla="val 9835"/>
            </a:avLst>
          </a:prstGeom>
          <a:solidFill>
            <a:srgbClr val="FDFDFF"/>
          </a:solidFill>
          <a:ln/>
        </p:spPr>
      </p:sp>
      <p:sp>
        <p:nvSpPr>
          <p:cNvPr id="6" name="Text 4"/>
          <p:cNvSpPr/>
          <p:nvPr/>
        </p:nvSpPr>
        <p:spPr>
          <a:xfrm>
            <a:off x="7010400" y="1747521"/>
            <a:ext cx="4290568" cy="243152"/>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191919"/>
                </a:solidFill>
                <a:latin typeface="Inter" pitchFamily="34" charset="0"/>
                <a:ea typeface="Inter" pitchFamily="34" charset="-122"/>
                <a:cs typeface="Inter" pitchFamily="34" charset="-120"/>
              </a:rPr>
              <a:t>No loan payments in transactions</a:t>
            </a:r>
            <a:endParaRPr lang="en-US" sz="1434" dirty="0"/>
          </a:p>
        </p:txBody>
      </p:sp>
      <p:sp>
        <p:nvSpPr>
          <p:cNvPr id="7" name="Text 5"/>
          <p:cNvSpPr/>
          <p:nvPr/>
        </p:nvSpPr>
        <p:spPr>
          <a:xfrm>
            <a:off x="7010400" y="2016072"/>
            <a:ext cx="4290568" cy="434287"/>
          </a:xfrm>
          <a:prstGeom prst="rect">
            <a:avLst/>
          </a:prstGeom>
          <a:noFill/>
          <a:ln/>
        </p:spPr>
        <p:txBody>
          <a:bodyPr wrap="square" lIns="0" tIns="0" rIns="0" bIns="0" rtlCol="0" anchor="t">
            <a:normAutofit/>
          </a:bodyPr>
          <a:lstStyle/>
          <a:p>
            <a:pPr algn="l" indent="0" marL="0">
              <a:lnSpc>
                <a:spcPts val="1611"/>
              </a:lnSpc>
              <a:buNone/>
            </a:pPr>
            <a:r>
              <a:rPr lang="en-US" sz="1239" dirty="0">
                <a:solidFill>
                  <a:srgbClr val="5F6672"/>
                </a:solidFill>
                <a:latin typeface="Inter" pitchFamily="34" charset="0"/>
                <a:ea typeface="Inter" pitchFamily="34" charset="-122"/>
                <a:cs typeface="Inter" pitchFamily="34" charset="-120"/>
              </a:rPr>
              <a:t>A budget built only from transactions overstates free money. We subtract debt minimums.</a:t>
            </a:r>
            <a:endParaRPr lang="en-US" sz="1239" dirty="0"/>
          </a:p>
        </p:txBody>
      </p:sp>
      <p:sp>
        <p:nvSpPr>
          <p:cNvPr id="8" name="Shape 6"/>
          <p:cNvSpPr/>
          <p:nvPr/>
        </p:nvSpPr>
        <p:spPr>
          <a:xfrm>
            <a:off x="6807200" y="2729762"/>
            <a:ext cx="4572000" cy="1032986"/>
          </a:xfrm>
          <a:prstGeom prst="roundRect">
            <a:avLst>
              <a:gd name="adj" fmla="val 9836"/>
            </a:avLst>
          </a:prstGeom>
          <a:solidFill>
            <a:srgbClr val="FDFDFF"/>
          </a:solidFill>
          <a:ln/>
        </p:spPr>
      </p:sp>
      <p:sp>
        <p:nvSpPr>
          <p:cNvPr id="9" name="Text 7"/>
          <p:cNvSpPr/>
          <p:nvPr/>
        </p:nvSpPr>
        <p:spPr>
          <a:xfrm>
            <a:off x="7010400" y="2907562"/>
            <a:ext cx="4290568" cy="243152"/>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191919"/>
                </a:solidFill>
                <a:latin typeface="Inter" pitchFamily="34" charset="0"/>
                <a:ea typeface="Inter" pitchFamily="34" charset="-122"/>
                <a:cs typeface="Inter" pitchFamily="34" charset="-120"/>
              </a:rPr>
              <a:t>Stored estimates vs. our math</a:t>
            </a:r>
            <a:endParaRPr lang="en-US" sz="1434" dirty="0"/>
          </a:p>
        </p:txBody>
      </p:sp>
      <p:sp>
        <p:nvSpPr>
          <p:cNvPr id="10" name="Text 8"/>
          <p:cNvSpPr/>
          <p:nvPr/>
        </p:nvSpPr>
        <p:spPr>
          <a:xfrm>
            <a:off x="7010400" y="3176113"/>
            <a:ext cx="4290568" cy="434234"/>
          </a:xfrm>
          <a:prstGeom prst="rect">
            <a:avLst/>
          </a:prstGeom>
          <a:noFill/>
          <a:ln/>
        </p:spPr>
        <p:txBody>
          <a:bodyPr wrap="square" lIns="0" tIns="0" rIns="0" bIns="0" rtlCol="0" anchor="t">
            <a:normAutofit/>
          </a:bodyPr>
          <a:lstStyle/>
          <a:p>
            <a:pPr algn="l" indent="0" marL="0">
              <a:lnSpc>
                <a:spcPts val="1611"/>
              </a:lnSpc>
              <a:buNone/>
            </a:pPr>
            <a:r>
              <a:rPr lang="en-US" sz="1239" dirty="0">
                <a:solidFill>
                  <a:srgbClr val="5F6672"/>
                </a:solidFill>
                <a:latin typeface="Inter" pitchFamily="34" charset="0"/>
                <a:ea typeface="Inter" pitchFamily="34" charset="-122"/>
                <a:cs typeface="Inter" pitchFamily="34" charset="-120"/>
              </a:rPr>
              <a:t>Personal loan payoff: stored 33 months, our calculation 65. Shown side by side.</a:t>
            </a:r>
            <a:endParaRPr lang="en-US" sz="1239" dirty="0"/>
          </a:p>
        </p:txBody>
      </p:sp>
      <p:sp>
        <p:nvSpPr>
          <p:cNvPr id="11" name="Shape 9"/>
          <p:cNvSpPr/>
          <p:nvPr/>
        </p:nvSpPr>
        <p:spPr>
          <a:xfrm>
            <a:off x="6807200" y="3889747"/>
            <a:ext cx="4572000" cy="1032986"/>
          </a:xfrm>
          <a:prstGeom prst="roundRect">
            <a:avLst>
              <a:gd name="adj" fmla="val 9836"/>
            </a:avLst>
          </a:prstGeom>
          <a:solidFill>
            <a:srgbClr val="FDFDFF"/>
          </a:solidFill>
          <a:ln/>
        </p:spPr>
      </p:sp>
      <p:sp>
        <p:nvSpPr>
          <p:cNvPr id="12" name="Text 10"/>
          <p:cNvSpPr/>
          <p:nvPr/>
        </p:nvSpPr>
        <p:spPr>
          <a:xfrm>
            <a:off x="7010400" y="4067547"/>
            <a:ext cx="4290568" cy="243152"/>
          </a:xfrm>
          <a:prstGeom prst="rect">
            <a:avLst/>
          </a:prstGeom>
          <a:noFill/>
          <a:ln/>
        </p:spPr>
        <p:txBody>
          <a:bodyPr wrap="square" lIns="0" tIns="0" rIns="0" bIns="0" rtlCol="0" anchor="t">
            <a:normAutofit/>
          </a:bodyPr>
          <a:lstStyle/>
          <a:p>
            <a:pPr algn="l" indent="0" marL="0">
              <a:lnSpc>
                <a:spcPts val="1721"/>
              </a:lnSpc>
              <a:buNone/>
            </a:pPr>
            <a:r>
              <a:rPr lang="en-US" sz="1434" b="1" dirty="0">
                <a:solidFill>
                  <a:srgbClr val="191919"/>
                </a:solidFill>
                <a:latin typeface="Inter" pitchFamily="34" charset="0"/>
                <a:ea typeface="Inter" pitchFamily="34" charset="-122"/>
                <a:cs typeface="Inter" pitchFamily="34" charset="-120"/>
              </a:rPr>
              <a:t>Signals, not errors</a:t>
            </a:r>
            <a:endParaRPr lang="en-US" sz="1434" dirty="0"/>
          </a:p>
        </p:txBody>
      </p:sp>
      <p:sp>
        <p:nvSpPr>
          <p:cNvPr id="13" name="Text 11"/>
          <p:cNvSpPr/>
          <p:nvPr/>
        </p:nvSpPr>
        <p:spPr>
          <a:xfrm>
            <a:off x="7010400" y="4336098"/>
            <a:ext cx="4290568" cy="434234"/>
          </a:xfrm>
          <a:prstGeom prst="rect">
            <a:avLst/>
          </a:prstGeom>
          <a:noFill/>
          <a:ln/>
        </p:spPr>
        <p:txBody>
          <a:bodyPr wrap="square" lIns="0" tIns="0" rIns="0" bIns="0" rtlCol="0" anchor="t">
            <a:normAutofit/>
          </a:bodyPr>
          <a:lstStyle/>
          <a:p>
            <a:pPr algn="l" indent="0" marL="0">
              <a:lnSpc>
                <a:spcPts val="1611"/>
              </a:lnSpc>
              <a:buNone/>
            </a:pPr>
            <a:r>
              <a:rPr lang="en-US" sz="1239" dirty="0">
                <a:solidFill>
                  <a:srgbClr val="5F6672"/>
                </a:solidFill>
                <a:latin typeface="Inter" pitchFamily="34" charset="0"/>
                <a:ea typeface="Inter" pitchFamily="34" charset="-122"/>
                <a:cs typeface="Inter" pitchFamily="34" charset="-120"/>
              </a:rPr>
              <a:t>Flagged as needs attention for a person to review, never silently changed.</a:t>
            </a:r>
            <a:endParaRPr lang="en-US" sz="1239" dirty="0"/>
          </a:p>
        </p:txBody>
      </p:sp>
      <p:sp>
        <p:nvSpPr>
          <p:cNvPr id="14" name="Shape 12"/>
          <p:cNvSpPr/>
          <p:nvPr/>
        </p:nvSpPr>
        <p:spPr>
          <a:xfrm>
            <a:off x="6807200" y="5049732"/>
            <a:ext cx="2235200" cy="995468"/>
          </a:xfrm>
          <a:prstGeom prst="roundRect">
            <a:avLst>
              <a:gd name="adj" fmla="val 10206"/>
            </a:avLst>
          </a:prstGeom>
          <a:solidFill>
            <a:srgbClr val="4356FF"/>
          </a:solidFill>
          <a:ln/>
        </p:spPr>
      </p:sp>
      <p:sp>
        <p:nvSpPr>
          <p:cNvPr id="15" name="Text 13"/>
          <p:cNvSpPr/>
          <p:nvPr/>
        </p:nvSpPr>
        <p:spPr>
          <a:xfrm>
            <a:off x="6985000" y="5202132"/>
            <a:ext cx="1935988" cy="491067"/>
          </a:xfrm>
          <a:prstGeom prst="rect">
            <a:avLst/>
          </a:prstGeom>
          <a:noFill/>
          <a:ln/>
        </p:spPr>
        <p:txBody>
          <a:bodyPr wrap="square" lIns="0" tIns="0" rIns="0" bIns="0" rtlCol="0" anchor="t">
            <a:normAutofit/>
          </a:bodyPr>
          <a:lstStyle/>
          <a:p>
            <a:pPr algn="l" indent="0" marL="0">
              <a:lnSpc>
                <a:spcPts val="3663"/>
              </a:lnSpc>
              <a:buNone/>
            </a:pPr>
            <a:r>
              <a:rPr lang="en-US" sz="2616" b="1" dirty="0">
                <a:solidFill>
                  <a:srgbClr val="F5F6FA"/>
                </a:solidFill>
                <a:latin typeface="Inter" pitchFamily="34" charset="0"/>
                <a:ea typeface="Inter" pitchFamily="34" charset="-122"/>
                <a:cs typeface="Inter" pitchFamily="34" charset="-120"/>
              </a:rPr>
              <a:t>38</a:t>
            </a:r>
            <a:endParaRPr lang="en-US" sz="2616" dirty="0"/>
          </a:p>
        </p:txBody>
      </p:sp>
      <p:sp>
        <p:nvSpPr>
          <p:cNvPr id="16" name="Text 14"/>
          <p:cNvSpPr/>
          <p:nvPr/>
        </p:nvSpPr>
        <p:spPr>
          <a:xfrm>
            <a:off x="6985000" y="5693200"/>
            <a:ext cx="1935988" cy="225002"/>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E8EBFF"/>
                </a:solidFill>
                <a:latin typeface="Inter" pitchFamily="34" charset="0"/>
                <a:ea typeface="Inter" pitchFamily="34" charset="-122"/>
                <a:cs typeface="Inter" pitchFamily="34" charset="-120"/>
              </a:rPr>
              <a:t>get a savings suggestion</a:t>
            </a:r>
            <a:endParaRPr lang="en-US" sz="1121" dirty="0"/>
          </a:p>
        </p:txBody>
      </p:sp>
      <p:sp>
        <p:nvSpPr>
          <p:cNvPr id="17" name="Shape 15"/>
          <p:cNvSpPr/>
          <p:nvPr/>
        </p:nvSpPr>
        <p:spPr>
          <a:xfrm>
            <a:off x="9144001" y="5049732"/>
            <a:ext cx="2235200" cy="995468"/>
          </a:xfrm>
          <a:prstGeom prst="roundRect">
            <a:avLst>
              <a:gd name="adj" fmla="val 10206"/>
            </a:avLst>
          </a:prstGeom>
          <a:solidFill>
            <a:srgbClr val="191919"/>
          </a:solidFill>
          <a:ln/>
        </p:spPr>
      </p:sp>
      <p:sp>
        <p:nvSpPr>
          <p:cNvPr id="18" name="Text 16"/>
          <p:cNvSpPr/>
          <p:nvPr/>
        </p:nvSpPr>
        <p:spPr>
          <a:xfrm>
            <a:off x="9321801" y="5202132"/>
            <a:ext cx="1935988" cy="491067"/>
          </a:xfrm>
          <a:prstGeom prst="rect">
            <a:avLst/>
          </a:prstGeom>
          <a:noFill/>
          <a:ln/>
        </p:spPr>
        <p:txBody>
          <a:bodyPr wrap="square" lIns="0" tIns="0" rIns="0" bIns="0" rtlCol="0" anchor="t">
            <a:normAutofit/>
          </a:bodyPr>
          <a:lstStyle/>
          <a:p>
            <a:pPr algn="l" indent="0" marL="0">
              <a:lnSpc>
                <a:spcPts val="3663"/>
              </a:lnSpc>
              <a:buNone/>
            </a:pPr>
            <a:r>
              <a:rPr lang="en-US" sz="2616" b="1" dirty="0">
                <a:solidFill>
                  <a:srgbClr val="F5F6FA"/>
                </a:solidFill>
                <a:latin typeface="Inter" pitchFamily="34" charset="0"/>
                <a:ea typeface="Inter" pitchFamily="34" charset="-122"/>
                <a:cs typeface="Inter" pitchFamily="34" charset="-120"/>
              </a:rPr>
              <a:t>62</a:t>
            </a:r>
            <a:endParaRPr lang="en-US" sz="2616" dirty="0"/>
          </a:p>
        </p:txBody>
      </p:sp>
      <p:sp>
        <p:nvSpPr>
          <p:cNvPr id="19" name="Text 17"/>
          <p:cNvSpPr/>
          <p:nvPr/>
        </p:nvSpPr>
        <p:spPr>
          <a:xfrm>
            <a:off x="9321801" y="5693200"/>
            <a:ext cx="1935988" cy="225002"/>
          </a:xfrm>
          <a:prstGeom prst="rect">
            <a:avLst/>
          </a:prstGeom>
          <a:noFill/>
          <a:ln/>
        </p:spPr>
        <p:txBody>
          <a:bodyPr wrap="square" lIns="0" tIns="0" rIns="0" bIns="0" rtlCol="0" anchor="t">
            <a:normAutofit/>
          </a:bodyPr>
          <a:lstStyle/>
          <a:p>
            <a:pPr algn="l" indent="0" marL="0">
              <a:lnSpc>
                <a:spcPts val="1570"/>
              </a:lnSpc>
              <a:buNone/>
            </a:pPr>
            <a:r>
              <a:rPr lang="en-US" sz="1121" dirty="0">
                <a:solidFill>
                  <a:srgbClr val="C9CCD6"/>
                </a:solidFill>
                <a:latin typeface="Inter" pitchFamily="34" charset="0"/>
                <a:ea typeface="Inter" pitchFamily="34" charset="-122"/>
                <a:cs typeface="Inter" pitchFamily="34" charset="-120"/>
              </a:rPr>
              <a:t>sent to a real person</a:t>
            </a:r>
            <a:endParaRPr lang="en-US" sz="112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91919"/>
                </a:solidFill>
                <a:latin typeface="Inter" pitchFamily="34" charset="0"/>
                <a:ea typeface="Inter" pitchFamily="34" charset="-122"/>
                <a:cs typeface="Inter" pitchFamily="34" charset="-120"/>
              </a:rPr>
              <a:t>Where Penny stops</a:t>
            </a:r>
            <a:endParaRPr lang="en-US" sz="3600" dirty="0"/>
          </a:p>
        </p:txBody>
      </p:sp>
      <p:sp>
        <p:nvSpPr>
          <p:cNvPr id="3" name="Shape 1"/>
          <p:cNvSpPr/>
          <p:nvPr/>
        </p:nvSpPr>
        <p:spPr>
          <a:xfrm>
            <a:off x="812800" y="1620518"/>
            <a:ext cx="5181600" cy="4424680"/>
          </a:xfrm>
          <a:prstGeom prst="roundRect">
            <a:avLst>
              <a:gd name="adj" fmla="val 2870"/>
            </a:avLst>
          </a:prstGeom>
          <a:solidFill>
            <a:srgbClr val="FDFDFF"/>
          </a:solidFill>
          <a:ln/>
        </p:spPr>
      </p:sp>
      <p:sp>
        <p:nvSpPr>
          <p:cNvPr id="4" name="Shape 2"/>
          <p:cNvSpPr/>
          <p:nvPr/>
        </p:nvSpPr>
        <p:spPr>
          <a:xfrm>
            <a:off x="812800" y="1620518"/>
            <a:ext cx="5181600" cy="4424680"/>
          </a:xfrm>
          <a:custGeom>
            <a:avLst/>
            <a:gdLst/>
            <a:ahLst/>
            <a:cxnLst/>
            <a:rect l="l" t="t" r="r" b="b"/>
            <a:pathLst>
              <a:path w="5181600" h="4424680">
                <a:moveTo>
                  <a:pt x="0" y="127000"/>
                </a:moveTo>
                <a:lnTo>
                  <a:pt x="0" y="127000"/>
                </a:lnTo>
                <a:arcTo hR="127000" wR="127000" stAng="10800000" swAng="5400000"/>
                <a:lnTo>
                  <a:pt x="5054600" y="0"/>
                </a:lnTo>
                <a:arcTo hR="127000" wR="127000" stAng="16200000" swAng="5400000"/>
                <a:lnTo>
                  <a:pt x="5181600" y="127000"/>
                </a:lnTo>
                <a:arcTo hR="76200" wR="127000" stAng="0" swAng="-5400000"/>
                <a:lnTo>
                  <a:pt x="127000" y="50800"/>
                </a:lnTo>
                <a:arcTo hR="76200" wR="127000" stAng="16200000" swAng="-5400000"/>
                <a:close/>
              </a:path>
            </a:pathLst>
          </a:custGeom>
          <a:solidFill>
            <a:srgbClr val="4356FF"/>
          </a:solidFill>
          <a:ln/>
        </p:spPr>
      </p:sp>
      <p:sp>
        <p:nvSpPr>
          <p:cNvPr id="5" name="Text 3"/>
          <p:cNvSpPr/>
          <p:nvPr/>
        </p:nvSpPr>
        <p:spPr>
          <a:xfrm>
            <a:off x="1066800" y="1925318"/>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356FF"/>
                </a:solidFill>
                <a:latin typeface="Inter" pitchFamily="34" charset="0"/>
                <a:ea typeface="Inter" pitchFamily="34" charset="-122"/>
                <a:cs typeface="Inter" pitchFamily="34" charset="-120"/>
              </a:rPr>
              <a:t>Guardrails</a:t>
            </a:r>
            <a:endParaRPr lang="en-US" sz="1800" dirty="0"/>
          </a:p>
        </p:txBody>
      </p:sp>
      <p:sp>
        <p:nvSpPr>
          <p:cNvPr id="6" name="Text 4"/>
          <p:cNvSpPr/>
          <p:nvPr/>
        </p:nvSpPr>
        <p:spPr>
          <a:xfrm>
            <a:off x="1066800" y="2326639"/>
            <a:ext cx="4813808" cy="201676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Hands off to a counselor when money is short or a debt is 60+ days late</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Nothing moves without the member's tap</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No investment or product advice; serves the member's own goal</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Every number comes from code and is checked first</a:t>
            </a:r>
            <a:endParaRPr lang="en-US" sz="1600" dirty="0"/>
          </a:p>
        </p:txBody>
      </p:sp>
      <p:sp>
        <p:nvSpPr>
          <p:cNvPr id="7" name="Shape 5"/>
          <p:cNvSpPr/>
          <p:nvPr/>
        </p:nvSpPr>
        <p:spPr>
          <a:xfrm>
            <a:off x="6197600" y="1620518"/>
            <a:ext cx="5181600" cy="4424680"/>
          </a:xfrm>
          <a:prstGeom prst="roundRect">
            <a:avLst>
              <a:gd name="adj" fmla="val 2870"/>
            </a:avLst>
          </a:prstGeom>
          <a:solidFill>
            <a:srgbClr val="FDFDFF"/>
          </a:solidFill>
          <a:ln/>
        </p:spPr>
      </p:sp>
      <p:sp>
        <p:nvSpPr>
          <p:cNvPr id="8" name="Shape 6"/>
          <p:cNvSpPr/>
          <p:nvPr/>
        </p:nvSpPr>
        <p:spPr>
          <a:xfrm>
            <a:off x="6197600" y="1620518"/>
            <a:ext cx="5181600" cy="4424680"/>
          </a:xfrm>
          <a:custGeom>
            <a:avLst/>
            <a:gdLst/>
            <a:ahLst/>
            <a:cxnLst/>
            <a:rect l="l" t="t" r="r" b="b"/>
            <a:pathLst>
              <a:path w="5181600" h="4424680">
                <a:moveTo>
                  <a:pt x="0" y="127000"/>
                </a:moveTo>
                <a:lnTo>
                  <a:pt x="0" y="127000"/>
                </a:lnTo>
                <a:arcTo hR="127000" wR="127000" stAng="10800000" swAng="5400000"/>
                <a:lnTo>
                  <a:pt x="5054600" y="0"/>
                </a:lnTo>
                <a:arcTo hR="127000" wR="127000" stAng="16200000" swAng="5400000"/>
                <a:lnTo>
                  <a:pt x="5181600" y="127000"/>
                </a:lnTo>
                <a:arcTo hR="76200" wR="127000" stAng="0" swAng="-5400000"/>
                <a:lnTo>
                  <a:pt x="127000" y="50800"/>
                </a:lnTo>
                <a:arcTo hR="76200" wR="127000" stAng="16200000" swAng="-5400000"/>
                <a:close/>
              </a:path>
            </a:pathLst>
          </a:custGeom>
          <a:solidFill>
            <a:srgbClr val="B7791F"/>
          </a:solidFill>
          <a:ln/>
        </p:spPr>
      </p:sp>
      <p:sp>
        <p:nvSpPr>
          <p:cNvPr id="9" name="Text 7"/>
          <p:cNvSpPr/>
          <p:nvPr/>
        </p:nvSpPr>
        <p:spPr>
          <a:xfrm>
            <a:off x="6451600" y="1925318"/>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8A5A12"/>
                </a:solidFill>
                <a:latin typeface="Inter" pitchFamily="34" charset="0"/>
                <a:ea typeface="Inter" pitchFamily="34" charset="-122"/>
                <a:cs typeface="Inter" pitchFamily="34" charset="-120"/>
              </a:rPr>
              <a:t>Honest limitations</a:t>
            </a:r>
            <a:endParaRPr lang="en-US" sz="1800" dirty="0"/>
          </a:p>
        </p:txBody>
      </p:sp>
      <p:sp>
        <p:nvSpPr>
          <p:cNvPr id="10" name="Text 8"/>
          <p:cNvSpPr/>
          <p:nvPr/>
        </p:nvSpPr>
        <p:spPr>
          <a:xfrm>
            <a:off x="6451600" y="2326639"/>
            <a:ext cx="4813808" cy="2301240"/>
          </a:xfrm>
          <a:prstGeom prst="rect">
            <a:avLst/>
          </a:prstGeom>
          <a:noFill/>
          <a:ln/>
        </p:spPr>
        <p:txBody>
          <a:bodyPr wrap="square" lIns="0" tIns="0" rIns="0" bIns="0" rtlCol="0" anchor="t">
            <a:normAutofit/>
          </a:bodyPr>
          <a:lstStyle/>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Irregular income usually gets $0 under our cautious rule. Fix: save a share of each deposit.</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Every deposit counts as a payday today. Fix: detect real paychecks.</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Starting balance is an assumption</a:t>
            </a:r>
            <a:endParaRPr lang="en-US" sz="1600" dirty="0"/>
          </a:p>
          <a:p>
            <a:pPr algn="l" marL="243840" indent="-183642">
              <a:lnSpc>
                <a:spcPts val="2240"/>
              </a:lnSpc>
              <a:buSzPct val="100000"/>
              <a:buChar char="•"/>
            </a:pPr>
            <a:r>
              <a:rPr lang="en-US" sz="1600" dirty="0">
                <a:solidFill>
                  <a:srgbClr val="191919"/>
                </a:solidFill>
                <a:latin typeface="Inter" pitchFamily="34" charset="0"/>
                <a:ea typeface="Inter" pitchFamily="34" charset="-122"/>
                <a:cs typeface="Inter" pitchFamily="34" charset="-120"/>
              </a:rPr>
              <a:t>Not yet modeled: single parents, supporting family abroad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A"/>
        </a:solidFill>
      </p:bgPr>
    </p:bg>
    <p:spTree>
      <p:nvGrpSpPr>
        <p:cNvPr id="1" name=""/>
        <p:cNvGrpSpPr/>
        <p:nvPr/>
      </p:nvGrpSpPr>
      <p:grpSpPr>
        <a:xfrm>
          <a:off x="0" y="0"/>
          <a:ext cx="0" cy="0"/>
          <a:chOff x="0" y="0"/>
          <a:chExt cx="0" cy="0"/>
        </a:xfrm>
      </p:grpSpPr>
      <p:sp>
        <p:nvSpPr>
          <p:cNvPr id="2" name="Text 0"/>
          <p:cNvSpPr/>
          <p:nvPr/>
        </p:nvSpPr>
        <p:spPr>
          <a:xfrm>
            <a:off x="812800" y="812800"/>
            <a:ext cx="10883393"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191919"/>
                </a:solidFill>
                <a:latin typeface="Inter" pitchFamily="34" charset="0"/>
                <a:ea typeface="Inter" pitchFamily="34" charset="-122"/>
                <a:cs typeface="Inter" pitchFamily="34" charset="-120"/>
              </a:rPr>
              <a:t>Piloting Penny at Gesa</a:t>
            </a:r>
            <a:endParaRPr lang="en-US" sz="3600" dirty="0"/>
          </a:p>
        </p:txBody>
      </p:sp>
      <p:sp>
        <p:nvSpPr>
          <p:cNvPr id="3" name="Shape 1"/>
          <p:cNvSpPr/>
          <p:nvPr/>
        </p:nvSpPr>
        <p:spPr>
          <a:xfrm>
            <a:off x="812800" y="2407286"/>
            <a:ext cx="3386667" cy="1682750"/>
          </a:xfrm>
          <a:prstGeom prst="roundRect">
            <a:avLst>
              <a:gd name="adj" fmla="val 7547"/>
            </a:avLst>
          </a:prstGeom>
          <a:solidFill>
            <a:srgbClr val="FDFDFF"/>
          </a:solidFill>
          <a:ln/>
        </p:spPr>
      </p:sp>
      <p:sp>
        <p:nvSpPr>
          <p:cNvPr id="4" name="Text 2"/>
          <p:cNvSpPr/>
          <p:nvPr/>
        </p:nvSpPr>
        <p:spPr>
          <a:xfrm>
            <a:off x="1066800" y="2661286"/>
            <a:ext cx="2965027"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356FF"/>
                </a:solidFill>
                <a:latin typeface="Inter" pitchFamily="34" charset="0"/>
                <a:ea typeface="Inter" pitchFamily="34" charset="-122"/>
                <a:cs typeface="Inter" pitchFamily="34" charset="-120"/>
              </a:rPr>
              <a:t>WHERE IT LIVES</a:t>
            </a:r>
            <a:endParaRPr lang="en-US" sz="1300" dirty="0"/>
          </a:p>
        </p:txBody>
      </p:sp>
      <p:sp>
        <p:nvSpPr>
          <p:cNvPr id="5" name="Text 3"/>
          <p:cNvSpPr/>
          <p:nvPr/>
        </p:nvSpPr>
        <p:spPr>
          <a:xfrm>
            <a:off x="1066800" y="2994025"/>
            <a:ext cx="2965027" cy="86741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91919"/>
                </a:solidFill>
                <a:latin typeface="Inter" pitchFamily="34" charset="0"/>
                <a:ea typeface="Inter" pitchFamily="34" charset="-122"/>
                <a:cs typeface="Inter" pitchFamily="34" charset="-120"/>
              </a:rPr>
              <a:t>A Coach tab inside the Gesa app. No new download.</a:t>
            </a:r>
            <a:endParaRPr lang="en-US" sz="1700" dirty="0"/>
          </a:p>
        </p:txBody>
      </p:sp>
      <p:sp>
        <p:nvSpPr>
          <p:cNvPr id="6" name="Shape 4"/>
          <p:cNvSpPr/>
          <p:nvPr/>
        </p:nvSpPr>
        <p:spPr>
          <a:xfrm>
            <a:off x="4402667" y="2407286"/>
            <a:ext cx="3386667" cy="1682750"/>
          </a:xfrm>
          <a:prstGeom prst="roundRect">
            <a:avLst>
              <a:gd name="adj" fmla="val 7547"/>
            </a:avLst>
          </a:prstGeom>
          <a:solidFill>
            <a:srgbClr val="FDFDFF"/>
          </a:solidFill>
          <a:ln/>
        </p:spPr>
      </p:sp>
      <p:sp>
        <p:nvSpPr>
          <p:cNvPr id="7" name="Text 5"/>
          <p:cNvSpPr/>
          <p:nvPr/>
        </p:nvSpPr>
        <p:spPr>
          <a:xfrm>
            <a:off x="4656667" y="2661286"/>
            <a:ext cx="2965027"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356FF"/>
                </a:solidFill>
                <a:latin typeface="Inter" pitchFamily="34" charset="0"/>
                <a:ea typeface="Inter" pitchFamily="34" charset="-122"/>
                <a:cs typeface="Inter" pitchFamily="34" charset="-120"/>
              </a:rPr>
              <a:t>DATA IT NEEDS</a:t>
            </a:r>
            <a:endParaRPr lang="en-US" sz="1300" dirty="0"/>
          </a:p>
        </p:txBody>
      </p:sp>
      <p:sp>
        <p:nvSpPr>
          <p:cNvPr id="8" name="Text 6"/>
          <p:cNvSpPr/>
          <p:nvPr/>
        </p:nvSpPr>
        <p:spPr>
          <a:xfrm>
            <a:off x="4656667" y="2994025"/>
            <a:ext cx="2965027" cy="86741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91919"/>
                </a:solidFill>
                <a:latin typeface="Inter" pitchFamily="34" charset="0"/>
                <a:ea typeface="Inter" pitchFamily="34" charset="-122"/>
                <a:cs typeface="Inter" pitchFamily="34" charset="-120"/>
              </a:rPr>
              <a:t>Transactions, pay deposits, loan minimums and status, goals, balances.</a:t>
            </a:r>
            <a:endParaRPr lang="en-US" sz="1700" dirty="0"/>
          </a:p>
        </p:txBody>
      </p:sp>
      <p:sp>
        <p:nvSpPr>
          <p:cNvPr id="9" name="Shape 7"/>
          <p:cNvSpPr/>
          <p:nvPr/>
        </p:nvSpPr>
        <p:spPr>
          <a:xfrm>
            <a:off x="7992534" y="2407286"/>
            <a:ext cx="3386667" cy="1682750"/>
          </a:xfrm>
          <a:prstGeom prst="roundRect">
            <a:avLst>
              <a:gd name="adj" fmla="val 7547"/>
            </a:avLst>
          </a:prstGeom>
          <a:solidFill>
            <a:srgbClr val="FDFDFF"/>
          </a:solidFill>
          <a:ln/>
        </p:spPr>
      </p:sp>
      <p:sp>
        <p:nvSpPr>
          <p:cNvPr id="10" name="Text 8"/>
          <p:cNvSpPr/>
          <p:nvPr/>
        </p:nvSpPr>
        <p:spPr>
          <a:xfrm>
            <a:off x="8246534" y="2661286"/>
            <a:ext cx="2965027" cy="25654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4356FF"/>
                </a:solidFill>
                <a:latin typeface="Inter" pitchFamily="34" charset="0"/>
                <a:ea typeface="Inter" pitchFamily="34" charset="-122"/>
                <a:cs typeface="Inter" pitchFamily="34" charset="-120"/>
              </a:rPr>
              <a:t>WHAT TO MEASURE</a:t>
            </a:r>
            <a:endParaRPr lang="en-US" sz="1300" dirty="0"/>
          </a:p>
        </p:txBody>
      </p:sp>
      <p:sp>
        <p:nvSpPr>
          <p:cNvPr id="11" name="Text 9"/>
          <p:cNvSpPr/>
          <p:nvPr/>
        </p:nvSpPr>
        <p:spPr>
          <a:xfrm>
            <a:off x="8246534" y="2994025"/>
            <a:ext cx="2965027" cy="867410"/>
          </a:xfrm>
          <a:prstGeom prst="rect">
            <a:avLst/>
          </a:prstGeom>
          <a:noFill/>
          <a:ln/>
        </p:spPr>
        <p:txBody>
          <a:bodyPr wrap="square" lIns="0" tIns="0" rIns="0" bIns="0" rtlCol="0" anchor="t">
            <a:normAutofit/>
          </a:bodyPr>
          <a:lstStyle/>
          <a:p>
            <a:pPr algn="l" indent="0" marL="0">
              <a:lnSpc>
                <a:spcPts val="2210"/>
              </a:lnSpc>
              <a:buNone/>
            </a:pPr>
            <a:r>
              <a:rPr lang="en-US" sz="1700" dirty="0">
                <a:solidFill>
                  <a:srgbClr val="191919"/>
                </a:solidFill>
                <a:latin typeface="Inter" pitchFamily="34" charset="0"/>
                <a:ea typeface="Inter" pitchFamily="34" charset="-122"/>
                <a:cs typeface="Inter" pitchFamily="34" charset="-120"/>
              </a:rPr>
              <a:t>Fees avoided, goal progress, counselor referrals.</a:t>
            </a:r>
            <a:endParaRPr lang="en-US" sz="1700" dirty="0"/>
          </a:p>
        </p:txBody>
      </p:sp>
      <p:sp>
        <p:nvSpPr>
          <p:cNvPr id="12" name="Shape 10"/>
          <p:cNvSpPr/>
          <p:nvPr/>
        </p:nvSpPr>
        <p:spPr>
          <a:xfrm>
            <a:off x="812800" y="5181600"/>
            <a:ext cx="10566401" cy="863600"/>
          </a:xfrm>
          <a:prstGeom prst="roundRect">
            <a:avLst>
              <a:gd name="adj" fmla="val 14706"/>
            </a:avLst>
          </a:prstGeom>
          <a:solidFill>
            <a:srgbClr val="4356FF"/>
          </a:solidFill>
          <a:ln/>
        </p:spPr>
      </p:sp>
      <p:sp>
        <p:nvSpPr>
          <p:cNvPr id="13" name="Text 11"/>
          <p:cNvSpPr/>
          <p:nvPr/>
        </p:nvSpPr>
        <p:spPr>
          <a:xfrm>
            <a:off x="1117600" y="5435600"/>
            <a:ext cx="495263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5F6FA"/>
                </a:solidFill>
                <a:latin typeface="Inter" pitchFamily="34" charset="0"/>
                <a:ea typeface="Inter" pitchFamily="34" charset="-122"/>
                <a:cs typeface="Inter" pitchFamily="34" charset="-120"/>
              </a:rPr>
              <a:t>Start with an opt-in group of members.</a:t>
            </a:r>
            <a:endParaRPr lang="en-US" sz="2000" dirty="0"/>
          </a:p>
        </p:txBody>
      </p:sp>
      <p:sp>
        <p:nvSpPr>
          <p:cNvPr id="14" name="Text 12"/>
          <p:cNvSpPr/>
          <p:nvPr/>
        </p:nvSpPr>
        <p:spPr>
          <a:xfrm>
            <a:off x="10067978" y="5471161"/>
            <a:ext cx="105722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8EBFF"/>
                </a:solidFill>
                <a:latin typeface="Inter" pitchFamily="34" charset="0"/>
                <a:ea typeface="Inter" pitchFamily="34" charset="-122"/>
                <a:cs typeface="Inter" pitchFamily="34" charset="-120"/>
              </a:rPr>
              <a:t>Thank you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Penny: Paycheck Savings Coach</dc:title>
  <dc:subject>PptxGenJS Presentation</dc:subject>
  <dc:creator>PptxGenJS</dc:creator>
  <cp:lastModifiedBy>PptxGenJS</cp:lastModifiedBy>
  <cp:revision>1</cp:revision>
  <dcterms:created xsi:type="dcterms:W3CDTF">2026-09-25T04:10:12Z</dcterms:created>
  <dcterms:modified xsi:type="dcterms:W3CDTF">2026-09-25T04:10:12Z</dcterms:modified>
</cp:coreProperties>
</file>