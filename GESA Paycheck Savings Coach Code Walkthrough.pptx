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codebase we built for Direction 4, the paycheck savings coach. Everything on screen is synthetic data, no real members, no real money movement, no login. The whole prototype serves one sentence, which you'll see repeated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app exists to say this one sentence honestly: a specific dollar amount, a specific action, and a specific reason, in language a stressed person can read in ten seconds. Everything we're about to walk through, the data layer, the engine, the AI, the validator, exists only to make that sentence true and never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one direction only. The workbook is read by data.py, which enforces a canonical schema so the engine never touches a raw column. The engine is the only place any arithmetic happens. Penny, the AI, only turns numbers she's handed into a sentence, and the validator checks that sentence before it can reach a member. main.py and the phone UI are the thin layer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data.py does two jobs: it reshapes the workbook into the five canonical tables the engine is allowed to read, and it runs a quality gate that reports pass, needs attention, or fail for a fixed list of checks. Only structural problems, like a missing column or a broken foreign key, actually fail and block the engine. Everything else, like the four goals whose suggested contribution exceeds the member's income, is a signal we surface, not an error we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GESA emphasized that a clean, normalized database matters. We designed the full 3NF schema, all 12 tables with primary and foreign keys, generated as a Mermaid ER diagram for the slides. Be upfront here: the schema is designed and documented, but the build_db.py script that actually loads it into SQLite is not part of this build yet. The canonical column contract in data.py is exactly what makes that swap safe later, since the engine never touches a base table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function in engine.py is pure: same member, same as_of date, same answer, every time, which is what lets the replay feature run this at any point in history. This exact worked example, MBR-0026 on a weekly pay cycle with a 966.34 dollar surplus landing on 166.90 dollars safe per paycheck, is the reference number a pytest test reproduces exactly. Paychecks per month is a fixed table: weekly 52 over 12, biweekly 26 over 12, semi-monthly 2, monthly 1, and for Irregular pay, income transactions in the window divided by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subtle but important design choice. It would be easy to let the model decide why to tell someone this is a good week to save. Instead, the reason is one of a fixed, four-item list chosen entirely by code, based on real numbers, before Penny ever sees the request. She's told the reason and told to use it exactly. This keeps the explanation as trustworthy as the number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core trust mechanism of the whole app. Penny is deliberately restricted to a narrow allowlist of facts for the recommendation message, so even a well-meaning slip can't leak the member's full financial picture into a casual nudge. And no matter what she writes, the validator checks every dollar figure against the facts dict within a cent of tolerance before anything reaches a member. If it fails for any reason, API failure, refusal, or a blocked number, the fallback is a deterministic template built from the same facts, clearly labeled offline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payday-to-payday sequence we use for the live demo. The first payday after starting the replay is a real miss in the underlying data, income was lower and spending was higher that week, so the member saved zero. Penny doesn't scold; she quietly halves the offer for next time. The very next payday only clears seventeen dollars of net cash flow, so the member saves a small partial amount, and Penny names it as a real win rather than dwelling on the shortfall. Both messages are still checked by the validator before they reach the toast notification and the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borrows an idea from Direction 1, found money. Two design decisions matter here. First, the language is deliberately neutral, these are signals from spending patterns, not verdicts. Second, and this took an iteration to get right, confirming an item doesn't silently inflate the savings number; it only promises a future amount, labeled clearly as conditional. And on the hand-off screen this same card reframes entirely, no savings push, just information, because someone about to talk to a counselor shouldn't also be getting a savings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Penny is the newest feature, and it needed a different validator than the recommendation message. The recommendation deliberately hides the surplus and buffer from Penny, but a member asking "why this amount" deserves the actual math, so the chat validator allows a much wider set of facts, while still hard-blocking any number that isn't real and any investment or product language. Hardship detection runs before the model is ever called, which matters, because we never want a counselor hand-off to depend on the AI behaving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stress test of the exact same engine and hand-off functions the two demo members use, run once across all 100 synthetic members. It doubles as an honesty check on the data itself: nearly all of it needs a person to review the credit band against the credit score, which the workbook's own inconsistency explains. None of that blocks the engine. Only structural problems do that; everything here is presented as a signal, on a screen a real analyst would actually use before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brief was explicit that the organizer's own analysis of this dataset, the reference numbers, the four over-suggested goals, the fee and duplicate totals, was already verified. Our job was to reproduce it in code, not question it. So test_engine.py checks the safe-to-save numbers for MBR-0026 and MBR-0081 to the cent against that reference table, and every other test file grew the same way, alongside whatever feature it was covering, rather than being written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a prototype built to prove a pattern, not a finished product. Everything shown runs on synthetic data behind a fixed set of rules for who gets a number and who gets a person, and every number a member sees has already passed through a validator before it reaches them. The two demo members show both sides of that: MBR-0026 for the full happy path, MBR-0062 for the hand-off path, now with the found-money card reframed for someone about to talk to a counselor rather than someone about to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2B"/>
        </a:solidFill>
      </p:bgPr>
    </p:bg>
    <p:spTree>
      <p:nvGrpSpPr>
        <p:cNvPr id="1" name=""/>
        <p:cNvGrpSpPr/>
        <p:nvPr/>
      </p:nvGrpSpPr>
      <p:grpSpPr>
        <a:xfrm>
          <a:off x="0" y="0"/>
          <a:ext cx="0" cy="0"/>
          <a:chOff x="0" y="0"/>
          <a:chExt cx="0" cy="0"/>
        </a:xfrm>
      </p:grpSpPr>
      <p:sp>
        <p:nvSpPr>
          <p:cNvPr id="2" name="Shape 0"/>
          <p:cNvSpPr/>
          <p:nvPr/>
        </p:nvSpPr>
        <p:spPr>
          <a:xfrm>
            <a:off x="0" y="0"/>
            <a:ext cx="12192001" cy="6858000"/>
          </a:xfrm>
          <a:prstGeom prst="rect">
            <a:avLst/>
          </a:prstGeom>
          <a:gradFill rotWithShape="1">
            <a:gsLst>
              <a:gs pos="0">
                <a:srgbClr val="14162B"/>
              </a:gs>
              <a:gs pos="100000">
                <a:srgbClr val="1B1E3A"/>
              </a:gs>
            </a:gsLst>
            <a:lin ang="4200000" scaled="0"/>
          </a:gradFill>
          <a:ln/>
        </p:spPr>
      </p:sp>
      <p:sp>
        <p:nvSpPr>
          <p:cNvPr id="3" name="Shape 1"/>
          <p:cNvSpPr/>
          <p:nvPr/>
        </p:nvSpPr>
        <p:spPr>
          <a:xfrm>
            <a:off x="812800" y="812800"/>
            <a:ext cx="355600" cy="355600"/>
          </a:xfrm>
          <a:prstGeom prst="roundRect">
            <a:avLst>
              <a:gd name="adj" fmla="val 50000"/>
            </a:avLst>
          </a:prstGeom>
          <a:solidFill>
            <a:srgbClr val="4356FF"/>
          </a:solidFill>
          <a:ln/>
        </p:spPr>
      </p:sp>
      <p:sp>
        <p:nvSpPr>
          <p:cNvPr id="4" name="Text 2"/>
          <p:cNvSpPr/>
          <p:nvPr/>
        </p:nvSpPr>
        <p:spPr>
          <a:xfrm>
            <a:off x="929217" y="848360"/>
            <a:ext cx="17356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7FB"/>
                </a:solidFill>
                <a:latin typeface="Space Grotesk" pitchFamily="34" charset="0"/>
                <a:ea typeface="Space Grotesk" pitchFamily="34" charset="-122"/>
                <a:cs typeface="Space Grotesk" pitchFamily="34" charset="-120"/>
              </a:rPr>
              <a:t>P</a:t>
            </a:r>
            <a:endParaRPr lang="en-US" sz="1600" dirty="0"/>
          </a:p>
        </p:txBody>
      </p:sp>
      <p:sp>
        <p:nvSpPr>
          <p:cNvPr id="5" name="Text 3"/>
          <p:cNvSpPr/>
          <p:nvPr/>
        </p:nvSpPr>
        <p:spPr>
          <a:xfrm>
            <a:off x="1270000" y="875030"/>
            <a:ext cx="4178017" cy="25654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8CA0FF"/>
                </a:solidFill>
                <a:latin typeface="IBM Plex Sans" pitchFamily="34" charset="0"/>
                <a:ea typeface="IBM Plex Sans" pitchFamily="34" charset="-122"/>
                <a:cs typeface="IBM Plex Sans" pitchFamily="34" charset="-120"/>
              </a:rPr>
              <a:t>DIRECTION 4 · GESA HACKATHON PROTOTYPE</a:t>
            </a:r>
            <a:endParaRPr lang="en-US" sz="1300" dirty="0"/>
          </a:p>
        </p:txBody>
      </p:sp>
      <p:sp>
        <p:nvSpPr>
          <p:cNvPr id="6" name="Text 4"/>
          <p:cNvSpPr/>
          <p:nvPr/>
        </p:nvSpPr>
        <p:spPr>
          <a:xfrm>
            <a:off x="812800" y="1346200"/>
            <a:ext cx="9810751" cy="1476163"/>
          </a:xfrm>
          <a:prstGeom prst="rect">
            <a:avLst/>
          </a:prstGeom>
          <a:noFill/>
          <a:ln/>
        </p:spPr>
        <p:txBody>
          <a:bodyPr wrap="square" lIns="0" tIns="0" rIns="0" bIns="0" rtlCol="0" anchor="t">
            <a:normAutofit/>
          </a:bodyPr>
          <a:lstStyle/>
          <a:p>
            <a:pPr algn="l" indent="0" marL="0">
              <a:lnSpc>
                <a:spcPts val="5712"/>
              </a:lnSpc>
              <a:buNone/>
            </a:pPr>
            <a:r>
              <a:rPr lang="en-US" sz="5600" b="1" dirty="0">
                <a:solidFill>
                  <a:srgbClr val="F6F7FB"/>
                </a:solidFill>
                <a:latin typeface="Space Grotesk" pitchFamily="34" charset="0"/>
                <a:ea typeface="Space Grotesk" pitchFamily="34" charset="-122"/>
                <a:cs typeface="Space Grotesk" pitchFamily="34" charset="-120"/>
              </a:rPr>
              <a:t>Paycheck</a:t>
            </a:r>
            <a:endParaRPr lang="en-US" sz="5600" dirty="0"/>
          </a:p>
          <a:p>
            <a:pPr algn="l" indent="0" marL="0">
              <a:lnSpc>
                <a:spcPts val="5712"/>
              </a:lnSpc>
              <a:buNone/>
            </a:pPr>
            <a:r>
              <a:rPr lang="en-US" sz="5600" b="1" dirty="0">
                <a:solidFill>
                  <a:srgbClr val="F6F7FB"/>
                </a:solidFill>
                <a:latin typeface="Space Grotesk" pitchFamily="34" charset="0"/>
                <a:ea typeface="Space Grotesk" pitchFamily="34" charset="-122"/>
                <a:cs typeface="Space Grotesk" pitchFamily="34" charset="-120"/>
              </a:rPr>
              <a:t>Savings Coach</a:t>
            </a:r>
            <a:endParaRPr lang="en-US" sz="5600" dirty="0"/>
          </a:p>
        </p:txBody>
      </p:sp>
      <p:sp>
        <p:nvSpPr>
          <p:cNvPr id="7" name="Text 5"/>
          <p:cNvSpPr/>
          <p:nvPr/>
        </p:nvSpPr>
        <p:spPr>
          <a:xfrm>
            <a:off x="812800" y="2974764"/>
            <a:ext cx="8502651"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EDD"/>
                </a:solidFill>
                <a:latin typeface="IBM Plex Sans" pitchFamily="34" charset="0"/>
                <a:ea typeface="IBM Plex Sans" pitchFamily="34" charset="-122"/>
                <a:cs typeface="IBM Plex Sans" pitchFamily="34" charset="-120"/>
              </a:rPr>
              <a:t>A code walkthrough: how the data, the engine, the AI coach, and the validator that checks her all fit together.</a:t>
            </a:r>
            <a:endParaRPr lang="en-US" sz="1600" dirty="0"/>
          </a:p>
        </p:txBody>
      </p:sp>
      <p:sp>
        <p:nvSpPr>
          <p:cNvPr id="8" name="Text 6"/>
          <p:cNvSpPr/>
          <p:nvPr/>
        </p:nvSpPr>
        <p:spPr>
          <a:xfrm>
            <a:off x="812800" y="5796280"/>
            <a:ext cx="7848601"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6F7FB"/>
                </a:solidFill>
                <a:latin typeface="IBM Plex Sans" pitchFamily="34" charset="0"/>
                <a:ea typeface="IBM Plex Sans" pitchFamily="34" charset="-122"/>
                <a:cs typeface="IBM Plex Sans" pitchFamily="34" charset="-120"/>
              </a:rPr>
              <a:t>"This payday, you can safely move $X to [your goal], because [one specific reason]."</a:t>
            </a:r>
            <a:endParaRPr lang="en-US" sz="1400" dirty="0"/>
          </a:p>
        </p:txBody>
      </p:sp>
      <p:sp>
        <p:nvSpPr>
          <p:cNvPr id="9" name="Text 7"/>
          <p:cNvSpPr/>
          <p:nvPr/>
        </p:nvSpPr>
        <p:spPr>
          <a:xfrm>
            <a:off x="10071577" y="5831840"/>
            <a:ext cx="13584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0A0"/>
                </a:solidFill>
                <a:latin typeface="IBM Plex Sans" pitchFamily="34" charset="0"/>
                <a:ea typeface="IBM Plex Sans" pitchFamily="34" charset="-122"/>
                <a:cs typeface="IBM Plex Sans" pitchFamily="34" charset="-120"/>
              </a:rPr>
              <a:t>Synthetic data only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1"/>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WHY THIS EXISTS</a:t>
            </a:r>
            <a:endParaRPr lang="en-US" sz="1200" dirty="0"/>
          </a:p>
        </p:txBody>
      </p:sp>
      <p:sp>
        <p:nvSpPr>
          <p:cNvPr id="3" name="Text 1"/>
          <p:cNvSpPr/>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Everything in this codebase serves one sentence</a:t>
            </a:r>
            <a:endParaRPr lang="en-US" sz="3200" dirty="0"/>
          </a:p>
        </p:txBody>
      </p:sp>
      <p:sp>
        <p:nvSpPr>
          <p:cNvPr id="4" name="Shape 2"/>
          <p:cNvSpPr/>
          <p:nvPr/>
        </p:nvSpPr>
        <p:spPr>
          <a:xfrm>
            <a:off x="815975" y="1933576"/>
            <a:ext cx="10560051" cy="1466003"/>
          </a:xfrm>
          <a:prstGeom prst="roundRect">
            <a:avLst>
              <a:gd name="adj" fmla="val 10179"/>
            </a:avLst>
          </a:prstGeom>
          <a:solidFill>
            <a:srgbClr val="FFFFFF"/>
          </a:solidFill>
          <a:ln w="6350">
            <a:solidFill>
              <a:srgbClr val="E4E7F2"/>
            </a:solidFill>
            <a:prstDash val="solid"/>
          </a:ln>
        </p:spPr>
      </p:sp>
      <p:sp>
        <p:nvSpPr>
          <p:cNvPr id="5" name="Text 3"/>
          <p:cNvSpPr/>
          <p:nvPr/>
        </p:nvSpPr>
        <p:spPr>
          <a:xfrm>
            <a:off x="1024060" y="2289387"/>
            <a:ext cx="10143880" cy="779780"/>
          </a:xfrm>
          <a:prstGeom prst="rect">
            <a:avLst/>
          </a:prstGeom>
          <a:noFill/>
          <a:ln/>
        </p:spPr>
        <p:txBody>
          <a:bodyPr wrap="square" lIns="0" tIns="0" rIns="0" bIns="0" rtlCol="0" anchor="t">
            <a:normAutofit/>
          </a:bodyPr>
          <a:lstStyle/>
          <a:p>
            <a:pPr algn="ctr" indent="0" marL="0">
              <a:lnSpc>
                <a:spcPts val="2970"/>
              </a:lnSpc>
              <a:buNone/>
            </a:pPr>
            <a:r>
              <a:rPr lang="en-US" sz="2200" dirty="0">
                <a:solidFill>
                  <a:srgbClr val="14162B"/>
                </a:solidFill>
                <a:latin typeface="Space Grotesk" pitchFamily="34" charset="0"/>
                <a:ea typeface="Space Grotesk" pitchFamily="34" charset="-122"/>
                <a:cs typeface="Space Grotesk" pitchFamily="34" charset="-120"/>
              </a:rPr>
              <a:t>"This payday, you can safely move </a:t>
            </a:r>
            <a:r>
              <a:rPr lang="en-US" sz="2200" dirty="0">
                <a:solidFill>
                  <a:srgbClr val="4356FF"/>
                </a:solidFill>
                <a:latin typeface="Space Grotesk" pitchFamily="34" charset="0"/>
                <a:ea typeface="Space Grotesk" pitchFamily="34" charset="-122"/>
                <a:cs typeface="Space Grotesk" pitchFamily="34" charset="-120"/>
              </a:rPr>
              <a:t>$166.90</a:t>
            </a:r>
            <a:r>
              <a:rPr lang="en-US" sz="2200" dirty="0">
                <a:solidFill>
                  <a:srgbClr val="14162B"/>
                </a:solidFill>
                <a:latin typeface="Space Grotesk" pitchFamily="34" charset="0"/>
                <a:ea typeface="Space Grotesk" pitchFamily="34" charset="-122"/>
                <a:cs typeface="Space Grotesk" pitchFamily="34" charset="-120"/>
              </a:rPr>
              <a:t> to your </a:t>
            </a:r>
            <a:r>
              <a:rPr lang="en-US" sz="2200" dirty="0">
                <a:solidFill>
                  <a:srgbClr val="4356FF"/>
                </a:solidFill>
                <a:latin typeface="Space Grotesk" pitchFamily="34" charset="0"/>
                <a:ea typeface="Space Grotesk" pitchFamily="34" charset="-122"/>
                <a:cs typeface="Space Grotesk" pitchFamily="34" charset="-120"/>
              </a:rPr>
              <a:t>Home Down Payment</a:t>
            </a:r>
            <a:r>
              <a:rPr lang="en-US" sz="2200" dirty="0">
                <a:solidFill>
                  <a:srgbClr val="14162B"/>
                </a:solidFill>
                <a:latin typeface="Space Grotesk" pitchFamily="34" charset="0"/>
                <a:ea typeface="Space Grotesk" pitchFamily="34" charset="-122"/>
                <a:cs typeface="Space Grotesk" pitchFamily="34" charset="-120"/>
              </a:rPr>
              <a:t>, because </a:t>
            </a:r>
            <a:r>
              <a:rPr lang="en-US" sz="2200" dirty="0">
                <a:solidFill>
                  <a:srgbClr val="4356FF"/>
                </a:solidFill>
                <a:latin typeface="Space Grotesk" pitchFamily="34" charset="0"/>
                <a:ea typeface="Space Grotesk" pitchFamily="34" charset="-122"/>
                <a:cs typeface="Space Grotesk" pitchFamily="34" charset="-120"/>
              </a:rPr>
              <a:t>your spending was lower than usual last month</a:t>
            </a:r>
            <a:r>
              <a:rPr lang="en-US" sz="2200" dirty="0">
                <a:solidFill>
                  <a:srgbClr val="14162B"/>
                </a:solidFill>
                <a:latin typeface="Space Grotesk" pitchFamily="34" charset="0"/>
                <a:ea typeface="Space Grotesk" pitchFamily="34" charset="-122"/>
                <a:cs typeface="Space Grotesk" pitchFamily="34" charset="-120"/>
              </a:rPr>
              <a:t>."</a:t>
            </a:r>
            <a:endParaRPr lang="en-US" sz="2200" dirty="0"/>
          </a:p>
        </p:txBody>
      </p:sp>
      <p:sp>
        <p:nvSpPr>
          <p:cNvPr id="6" name="Shape 4"/>
          <p:cNvSpPr/>
          <p:nvPr/>
        </p:nvSpPr>
        <p:spPr>
          <a:xfrm>
            <a:off x="815975" y="3761529"/>
            <a:ext cx="3380317" cy="1128183"/>
          </a:xfrm>
          <a:prstGeom prst="roundRect">
            <a:avLst>
              <a:gd name="adj" fmla="val 8724"/>
            </a:avLst>
          </a:prstGeom>
          <a:solidFill>
            <a:srgbClr val="FFFFFF"/>
          </a:solidFill>
          <a:ln w="6350">
            <a:solidFill>
              <a:srgbClr val="E4E7F2"/>
            </a:solidFill>
            <a:prstDash val="solid"/>
          </a:ln>
        </p:spPr>
      </p:sp>
      <p:sp>
        <p:nvSpPr>
          <p:cNvPr id="7" name="Text 5"/>
          <p:cNvSpPr/>
          <p:nvPr/>
        </p:nvSpPr>
        <p:spPr>
          <a:xfrm>
            <a:off x="1019387" y="3964941"/>
            <a:ext cx="30626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Find what's realistic</a:t>
            </a:r>
            <a:endParaRPr lang="en-US" sz="1600" dirty="0"/>
          </a:p>
        </p:txBody>
      </p:sp>
      <p:sp>
        <p:nvSpPr>
          <p:cNvPr id="8" name="Text 6"/>
          <p:cNvSpPr/>
          <p:nvPr/>
        </p:nvSpPr>
        <p:spPr>
          <a:xfrm>
            <a:off x="1019387" y="4259580"/>
            <a:ext cx="30626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A pure calculation from 3 months of real transactions, never a guess</a:t>
            </a:r>
            <a:endParaRPr lang="en-US" sz="1200" dirty="0"/>
          </a:p>
        </p:txBody>
      </p:sp>
      <p:sp>
        <p:nvSpPr>
          <p:cNvPr id="9" name="Shape 7"/>
          <p:cNvSpPr/>
          <p:nvPr/>
        </p:nvSpPr>
        <p:spPr>
          <a:xfrm>
            <a:off x="4405842" y="3761529"/>
            <a:ext cx="3380317" cy="1128183"/>
          </a:xfrm>
          <a:prstGeom prst="roundRect">
            <a:avLst>
              <a:gd name="adj" fmla="val 8724"/>
            </a:avLst>
          </a:prstGeom>
          <a:solidFill>
            <a:srgbClr val="FFFFFF"/>
          </a:solidFill>
          <a:ln w="6350">
            <a:solidFill>
              <a:srgbClr val="E4E7F2"/>
            </a:solidFill>
            <a:prstDash val="solid"/>
          </a:ln>
        </p:spPr>
      </p:sp>
      <p:sp>
        <p:nvSpPr>
          <p:cNvPr id="10" name="Text 8"/>
          <p:cNvSpPr/>
          <p:nvPr/>
        </p:nvSpPr>
        <p:spPr>
          <a:xfrm>
            <a:off x="4609254" y="3964941"/>
            <a:ext cx="30626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Schedule it around pay</a:t>
            </a:r>
            <a:endParaRPr lang="en-US" sz="1600" dirty="0"/>
          </a:p>
        </p:txBody>
      </p:sp>
      <p:sp>
        <p:nvSpPr>
          <p:cNvPr id="11" name="Text 9"/>
          <p:cNvSpPr/>
          <p:nvPr/>
        </p:nvSpPr>
        <p:spPr>
          <a:xfrm>
            <a:off x="4609254" y="4259580"/>
            <a:ext cx="30626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Split to the member's actual pay cycle, weekly through irregular</a:t>
            </a:r>
            <a:endParaRPr lang="en-US" sz="1200" dirty="0"/>
          </a:p>
        </p:txBody>
      </p:sp>
      <p:sp>
        <p:nvSpPr>
          <p:cNvPr id="12" name="Shape 10"/>
          <p:cNvSpPr/>
          <p:nvPr/>
        </p:nvSpPr>
        <p:spPr>
          <a:xfrm>
            <a:off x="7995709" y="3761529"/>
            <a:ext cx="3380317" cy="1128183"/>
          </a:xfrm>
          <a:prstGeom prst="roundRect">
            <a:avLst>
              <a:gd name="adj" fmla="val 8724"/>
            </a:avLst>
          </a:prstGeom>
          <a:solidFill>
            <a:srgbClr val="FFFFFF"/>
          </a:solidFill>
          <a:ln w="6350">
            <a:solidFill>
              <a:srgbClr val="E4E7F2"/>
            </a:solidFill>
            <a:prstDash val="solid"/>
          </a:ln>
        </p:spPr>
      </p:sp>
      <p:sp>
        <p:nvSpPr>
          <p:cNvPr id="13" name="Text 11"/>
          <p:cNvSpPr/>
          <p:nvPr/>
        </p:nvSpPr>
        <p:spPr>
          <a:xfrm>
            <a:off x="8199120" y="3964941"/>
            <a:ext cx="30626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Coach over time, kindly</a:t>
            </a:r>
            <a:endParaRPr lang="en-US" sz="1600" dirty="0"/>
          </a:p>
        </p:txBody>
      </p:sp>
      <p:sp>
        <p:nvSpPr>
          <p:cNvPr id="14" name="Text 12"/>
          <p:cNvSpPr/>
          <p:nvPr/>
        </p:nvSpPr>
        <p:spPr>
          <a:xfrm>
            <a:off x="8199120" y="4259580"/>
            <a:ext cx="306269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Checks in every payday, no guilt after a missed one</a:t>
            </a:r>
            <a:endParaRPr lang="en-US" sz="1200" dirty="0"/>
          </a:p>
        </p:txBody>
      </p:sp>
      <p:sp>
        <p:nvSpPr>
          <p:cNvPr id="15" name="Text 13"/>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16" name="Text 14"/>
          <p:cNvSpPr/>
          <p:nvPr/>
        </p:nvSpPr>
        <p:spPr>
          <a:xfrm>
            <a:off x="10058401"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One direction of data, five files</a:t>
            </a:r>
            <a:endParaRPr lang="en-US" sz="3200" dirty="0"/>
          </a:p>
        </p:txBody>
      </p:sp>
      <p:sp>
        <p:nvSpPr>
          <p:cNvPr id="4" name="Shape 2"/>
          <p:cNvSpPr/>
          <p:nvPr/>
        </p:nvSpPr>
        <p:spPr>
          <a:xfrm>
            <a:off x="815975" y="1886586"/>
            <a:ext cx="1619673" cy="1946063"/>
          </a:xfrm>
          <a:prstGeom prst="roundRect">
            <a:avLst>
              <a:gd name="adj" fmla="val 6077"/>
            </a:avLst>
          </a:prstGeom>
          <a:solidFill>
            <a:srgbClr val="FFFFFF"/>
          </a:solidFill>
          <a:ln w="6350">
            <a:solidFill>
              <a:srgbClr val="E4E7F2"/>
            </a:solidFill>
            <a:prstDash val="solid"/>
          </a:ln>
        </p:spPr>
      </p:sp>
      <p:sp>
        <p:nvSpPr>
          <p:cNvPr id="5" name="Text 3"/>
          <p:cNvSpPr/>
          <p:nvPr/>
        </p:nvSpPr>
        <p:spPr>
          <a:xfrm>
            <a:off x="955887" y="2064598"/>
            <a:ext cx="1390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Courier New" pitchFamily="34" charset="0"/>
                <a:ea typeface="Courier New" pitchFamily="34" charset="-122"/>
                <a:cs typeface="Courier New" pitchFamily="34" charset="-120"/>
              </a:rPr>
              <a:t>data/*.xlsx</a:t>
            </a:r>
            <a:endParaRPr lang="en-US" sz="1200" dirty="0"/>
          </a:p>
        </p:txBody>
      </p:sp>
      <p:sp>
        <p:nvSpPr>
          <p:cNvPr id="6" name="Text 4"/>
          <p:cNvSpPr/>
          <p:nvPr/>
        </p:nvSpPr>
        <p:spPr>
          <a:xfrm>
            <a:off x="955887" y="2341457"/>
            <a:ext cx="139065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62B"/>
                </a:solidFill>
                <a:latin typeface="Space Grotesk" pitchFamily="34" charset="0"/>
                <a:ea typeface="Space Grotesk" pitchFamily="34" charset="-122"/>
                <a:cs typeface="Space Grotesk" pitchFamily="34" charset="-120"/>
              </a:rPr>
              <a:t>Source workbook</a:t>
            </a:r>
            <a:endParaRPr lang="en-US" sz="1400" dirty="0"/>
          </a:p>
        </p:txBody>
      </p:sp>
      <p:sp>
        <p:nvSpPr>
          <p:cNvPr id="7" name="Text 5"/>
          <p:cNvSpPr/>
          <p:nvPr/>
        </p:nvSpPr>
        <p:spPr>
          <a:xfrm>
            <a:off x="955887" y="2831677"/>
            <a:ext cx="1390650"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178"/>
                </a:solidFill>
                <a:latin typeface="IBM Plex Sans" pitchFamily="34" charset="0"/>
                <a:ea typeface="IBM Plex Sans" pitchFamily="34" charset="-122"/>
                <a:cs typeface="IBM Plex Sans" pitchFamily="34" charset="-120"/>
              </a:rPr>
              <a:t>Members, Transactions, Debts, Credit Profiles, Goals</a:t>
            </a:r>
            <a:endParaRPr lang="en-US" sz="1200" dirty="0"/>
          </a:p>
        </p:txBody>
      </p:sp>
      <p:pic>
        <p:nvPicPr>
          <p:cNvPr id="8" name="Image 0" descr="arrow-right">    </p:cNvPr>
          <p:cNvPicPr>
            <a:picLocks noChangeAspect="1"/>
          </p:cNvPicPr>
          <p:nvPr/>
        </p:nvPicPr>
        <p:blipFill>
          <a:blip r:embed="rId1"/>
          <a:srcRect l="0" r="0" t="0" b="0"/>
          <a:stretch/>
        </p:blipFill>
        <p:spPr>
          <a:xfrm>
            <a:off x="2540423" y="2745318"/>
            <a:ext cx="355600" cy="228600"/>
          </a:xfrm>
          <a:prstGeom prst="rect">
            <a:avLst/>
          </a:prstGeom>
        </p:spPr>
      </p:pic>
      <p:sp>
        <p:nvSpPr>
          <p:cNvPr id="9" name="Shape 6"/>
          <p:cNvSpPr/>
          <p:nvPr/>
        </p:nvSpPr>
        <p:spPr>
          <a:xfrm>
            <a:off x="3000798" y="1886586"/>
            <a:ext cx="1619726" cy="1946063"/>
          </a:xfrm>
          <a:prstGeom prst="roundRect">
            <a:avLst>
              <a:gd name="adj" fmla="val 6077"/>
            </a:avLst>
          </a:prstGeom>
          <a:solidFill>
            <a:srgbClr val="FFFFFF"/>
          </a:solidFill>
          <a:ln w="6350">
            <a:solidFill>
              <a:srgbClr val="E4E7F2"/>
            </a:solidFill>
            <a:prstDash val="solid"/>
          </a:ln>
        </p:spPr>
      </p:sp>
      <p:sp>
        <p:nvSpPr>
          <p:cNvPr id="10" name="Text 7"/>
          <p:cNvSpPr/>
          <p:nvPr/>
        </p:nvSpPr>
        <p:spPr>
          <a:xfrm>
            <a:off x="3140710" y="2064598"/>
            <a:ext cx="13907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Courier New" pitchFamily="34" charset="0"/>
                <a:ea typeface="Courier New" pitchFamily="34" charset="-122"/>
                <a:cs typeface="Courier New" pitchFamily="34" charset="-120"/>
              </a:rPr>
              <a:t>data.py</a:t>
            </a:r>
            <a:endParaRPr lang="en-US" sz="1200" dirty="0"/>
          </a:p>
        </p:txBody>
      </p:sp>
      <p:sp>
        <p:nvSpPr>
          <p:cNvPr id="11" name="Text 8"/>
          <p:cNvSpPr/>
          <p:nvPr/>
        </p:nvSpPr>
        <p:spPr>
          <a:xfrm>
            <a:off x="3140710" y="2341457"/>
            <a:ext cx="1390703"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62B"/>
                </a:solidFill>
                <a:latin typeface="Space Grotesk" pitchFamily="34" charset="0"/>
                <a:ea typeface="Space Grotesk" pitchFamily="34" charset="-122"/>
                <a:cs typeface="Space Grotesk" pitchFamily="34" charset="-120"/>
              </a:rPr>
              <a:t>Load + quality gate</a:t>
            </a:r>
            <a:endParaRPr lang="en-US" sz="1400" dirty="0"/>
          </a:p>
        </p:txBody>
      </p:sp>
      <p:sp>
        <p:nvSpPr>
          <p:cNvPr id="12" name="Text 9"/>
          <p:cNvSpPr/>
          <p:nvPr/>
        </p:nvSpPr>
        <p:spPr>
          <a:xfrm>
            <a:off x="3140710" y="2831677"/>
            <a:ext cx="1390703"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178"/>
                </a:solidFill>
                <a:latin typeface="IBM Plex Sans" pitchFamily="34" charset="0"/>
                <a:ea typeface="IBM Plex Sans" pitchFamily="34" charset="-122"/>
                <a:cs typeface="IBM Plex Sans" pitchFamily="34" charset="-120"/>
              </a:rPr>
              <a:t>Canonical columns only, signals flagged, never silently fixed</a:t>
            </a:r>
            <a:endParaRPr lang="en-US" sz="1200" dirty="0"/>
          </a:p>
        </p:txBody>
      </p:sp>
      <p:pic>
        <p:nvPicPr>
          <p:cNvPr id="13" name="Image 1" descr="arrow-right">    </p:cNvPr>
          <p:cNvPicPr>
            <a:picLocks noChangeAspect="1"/>
          </p:cNvPicPr>
          <p:nvPr/>
        </p:nvPicPr>
        <p:blipFill>
          <a:blip r:embed="rId2"/>
          <a:srcRect l="0" r="0" t="0" b="0"/>
          <a:stretch/>
        </p:blipFill>
        <p:spPr>
          <a:xfrm>
            <a:off x="4725300" y="2745318"/>
            <a:ext cx="355600" cy="228600"/>
          </a:xfrm>
          <a:prstGeom prst="rect">
            <a:avLst/>
          </a:prstGeom>
        </p:spPr>
      </p:pic>
      <p:sp>
        <p:nvSpPr>
          <p:cNvPr id="14" name="Shape 10"/>
          <p:cNvSpPr/>
          <p:nvPr/>
        </p:nvSpPr>
        <p:spPr>
          <a:xfrm>
            <a:off x="5185675" y="2096136"/>
            <a:ext cx="1619673" cy="1526963"/>
          </a:xfrm>
          <a:prstGeom prst="roundRect">
            <a:avLst>
              <a:gd name="adj" fmla="val 6446"/>
            </a:avLst>
          </a:prstGeom>
          <a:solidFill>
            <a:srgbClr val="FFFFFF"/>
          </a:solidFill>
          <a:ln w="6350">
            <a:solidFill>
              <a:srgbClr val="E4E7F2"/>
            </a:solidFill>
            <a:prstDash val="solid"/>
          </a:ln>
        </p:spPr>
      </p:sp>
      <p:sp>
        <p:nvSpPr>
          <p:cNvPr id="15" name="Text 11"/>
          <p:cNvSpPr/>
          <p:nvPr/>
        </p:nvSpPr>
        <p:spPr>
          <a:xfrm>
            <a:off x="5325587" y="2274148"/>
            <a:ext cx="13906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Courier New" pitchFamily="34" charset="0"/>
                <a:ea typeface="Courier New" pitchFamily="34" charset="-122"/>
                <a:cs typeface="Courier New" pitchFamily="34" charset="-120"/>
              </a:rPr>
              <a:t>engine.py</a:t>
            </a:r>
            <a:endParaRPr lang="en-US" sz="1200" dirty="0"/>
          </a:p>
        </p:txBody>
      </p:sp>
      <p:sp>
        <p:nvSpPr>
          <p:cNvPr id="16" name="Text 12"/>
          <p:cNvSpPr/>
          <p:nvPr/>
        </p:nvSpPr>
        <p:spPr>
          <a:xfrm>
            <a:off x="5325587" y="2551007"/>
            <a:ext cx="13906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62B"/>
                </a:solidFill>
                <a:latin typeface="Space Grotesk" pitchFamily="34" charset="0"/>
                <a:ea typeface="Space Grotesk" pitchFamily="34" charset="-122"/>
                <a:cs typeface="Space Grotesk" pitchFamily="34" charset="-120"/>
              </a:rPr>
              <a:t>All arithmetic</a:t>
            </a:r>
            <a:endParaRPr lang="en-US" sz="1400" dirty="0"/>
          </a:p>
        </p:txBody>
      </p:sp>
      <p:sp>
        <p:nvSpPr>
          <p:cNvPr id="17" name="Text 13"/>
          <p:cNvSpPr/>
          <p:nvPr/>
        </p:nvSpPr>
        <p:spPr>
          <a:xfrm>
            <a:off x="5325587" y="2827868"/>
            <a:ext cx="139065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178"/>
                </a:solidFill>
                <a:latin typeface="IBM Plex Sans" pitchFamily="34" charset="0"/>
                <a:ea typeface="IBM Plex Sans" pitchFamily="34" charset="-122"/>
                <a:cs typeface="IBM Plex Sans" pitchFamily="34" charset="-120"/>
              </a:rPr>
              <a:t>Pure functions, take an as_of date, return a facts dict</a:t>
            </a:r>
            <a:endParaRPr lang="en-US" sz="1200" dirty="0"/>
          </a:p>
        </p:txBody>
      </p:sp>
      <p:pic>
        <p:nvPicPr>
          <p:cNvPr id="18" name="Image 2" descr="arrow-right">    </p:cNvPr>
          <p:cNvPicPr>
            <a:picLocks noChangeAspect="1"/>
          </p:cNvPicPr>
          <p:nvPr/>
        </p:nvPicPr>
        <p:blipFill>
          <a:blip r:embed="rId3"/>
          <a:srcRect l="0" r="0" t="0" b="0"/>
          <a:stretch/>
        </p:blipFill>
        <p:spPr>
          <a:xfrm>
            <a:off x="6910123" y="2745318"/>
            <a:ext cx="355600" cy="228600"/>
          </a:xfrm>
          <a:prstGeom prst="rect">
            <a:avLst/>
          </a:prstGeom>
        </p:spPr>
      </p:pic>
      <p:sp>
        <p:nvSpPr>
          <p:cNvPr id="19" name="Shape 14"/>
          <p:cNvSpPr/>
          <p:nvPr/>
        </p:nvSpPr>
        <p:spPr>
          <a:xfrm>
            <a:off x="7370498" y="1882777"/>
            <a:ext cx="1820704" cy="1953683"/>
          </a:xfrm>
          <a:prstGeom prst="roundRect">
            <a:avLst>
              <a:gd name="adj" fmla="val 5406"/>
            </a:avLst>
          </a:prstGeom>
          <a:solidFill>
            <a:srgbClr val="E8EBFF"/>
          </a:solidFill>
          <a:ln w="6350">
            <a:solidFill>
              <a:srgbClr val="C7CFFF"/>
            </a:solidFill>
            <a:prstDash val="solid"/>
          </a:ln>
        </p:spPr>
      </p:sp>
      <p:sp>
        <p:nvSpPr>
          <p:cNvPr id="20" name="Text 15"/>
          <p:cNvSpPr/>
          <p:nvPr/>
        </p:nvSpPr>
        <p:spPr>
          <a:xfrm>
            <a:off x="7510410" y="2060787"/>
            <a:ext cx="159168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Courier New" pitchFamily="34" charset="0"/>
                <a:ea typeface="Courier New" pitchFamily="34" charset="-122"/>
                <a:cs typeface="Courier New" pitchFamily="34" charset="-120"/>
              </a:rPr>
              <a:t>explain.py + validate.py</a:t>
            </a:r>
            <a:endParaRPr lang="en-US" sz="1200" dirty="0"/>
          </a:p>
        </p:txBody>
      </p:sp>
      <p:sp>
        <p:nvSpPr>
          <p:cNvPr id="21" name="Text 16"/>
          <p:cNvSpPr/>
          <p:nvPr/>
        </p:nvSpPr>
        <p:spPr>
          <a:xfrm>
            <a:off x="7510410" y="2551007"/>
            <a:ext cx="1591680"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62B"/>
                </a:solidFill>
                <a:latin typeface="Space Grotesk" pitchFamily="34" charset="0"/>
                <a:ea typeface="Space Grotesk" pitchFamily="34" charset="-122"/>
                <a:cs typeface="Space Grotesk" pitchFamily="34" charset="-120"/>
              </a:rPr>
              <a:t>Penny writes, validator checks</a:t>
            </a:r>
            <a:endParaRPr lang="en-US" sz="1400" dirty="0"/>
          </a:p>
        </p:txBody>
      </p:sp>
      <p:sp>
        <p:nvSpPr>
          <p:cNvPr id="22" name="Text 17"/>
          <p:cNvSpPr/>
          <p:nvPr/>
        </p:nvSpPr>
        <p:spPr>
          <a:xfrm>
            <a:off x="7510410" y="3041227"/>
            <a:ext cx="159168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694"/>
                </a:solidFill>
                <a:latin typeface="IBM Plex Sans" pitchFamily="34" charset="0"/>
                <a:ea typeface="IBM Plex Sans" pitchFamily="34" charset="-122"/>
                <a:cs typeface="IBM Plex Sans" pitchFamily="34" charset="-120"/>
              </a:rPr>
              <a:t>Every number in her message must match a fact, or it's blocked</a:t>
            </a:r>
            <a:endParaRPr lang="en-US" sz="1200" dirty="0"/>
          </a:p>
        </p:txBody>
      </p:sp>
      <p:pic>
        <p:nvPicPr>
          <p:cNvPr id="23" name="Image 3" descr="arrow-right">    </p:cNvPr>
          <p:cNvPicPr>
            <a:picLocks noChangeAspect="1"/>
          </p:cNvPicPr>
          <p:nvPr/>
        </p:nvPicPr>
        <p:blipFill>
          <a:blip r:embed="rId4"/>
          <a:srcRect l="0" r="0" t="0" b="0"/>
          <a:stretch/>
        </p:blipFill>
        <p:spPr>
          <a:xfrm>
            <a:off x="9295977" y="2745318"/>
            <a:ext cx="355600" cy="228600"/>
          </a:xfrm>
          <a:prstGeom prst="rect">
            <a:avLst/>
          </a:prstGeom>
        </p:spPr>
      </p:pic>
      <p:sp>
        <p:nvSpPr>
          <p:cNvPr id="24" name="Shape 18"/>
          <p:cNvSpPr/>
          <p:nvPr/>
        </p:nvSpPr>
        <p:spPr>
          <a:xfrm>
            <a:off x="9756353" y="1989455"/>
            <a:ext cx="1619673" cy="1740323"/>
          </a:xfrm>
          <a:prstGeom prst="roundRect">
            <a:avLst>
              <a:gd name="adj" fmla="val 6077"/>
            </a:avLst>
          </a:prstGeom>
          <a:solidFill>
            <a:srgbClr val="FFFFFF"/>
          </a:solidFill>
          <a:ln w="6350">
            <a:solidFill>
              <a:srgbClr val="E4E7F2"/>
            </a:solidFill>
            <a:prstDash val="solid"/>
          </a:ln>
        </p:spPr>
      </p:sp>
      <p:sp>
        <p:nvSpPr>
          <p:cNvPr id="25" name="Text 19"/>
          <p:cNvSpPr/>
          <p:nvPr/>
        </p:nvSpPr>
        <p:spPr>
          <a:xfrm>
            <a:off x="9896264" y="2167468"/>
            <a:ext cx="139065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Courier New" pitchFamily="34" charset="0"/>
                <a:ea typeface="Courier New" pitchFamily="34" charset="-122"/>
                <a:cs typeface="Courier New" pitchFamily="34" charset="-120"/>
              </a:rPr>
              <a:t>main.py + index.html</a:t>
            </a:r>
            <a:endParaRPr lang="en-US" sz="1200" dirty="0"/>
          </a:p>
        </p:txBody>
      </p:sp>
      <p:sp>
        <p:nvSpPr>
          <p:cNvPr id="26" name="Text 20"/>
          <p:cNvSpPr/>
          <p:nvPr/>
        </p:nvSpPr>
        <p:spPr>
          <a:xfrm>
            <a:off x="9896264" y="2657687"/>
            <a:ext cx="139065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162B"/>
                </a:solidFill>
                <a:latin typeface="Space Grotesk" pitchFamily="34" charset="0"/>
                <a:ea typeface="Space Grotesk" pitchFamily="34" charset="-122"/>
                <a:cs typeface="Space Grotesk" pitchFamily="34" charset="-120"/>
              </a:rPr>
              <a:t>API + phone UI</a:t>
            </a:r>
            <a:endParaRPr lang="en-US" sz="1400" dirty="0"/>
          </a:p>
        </p:txBody>
      </p:sp>
      <p:sp>
        <p:nvSpPr>
          <p:cNvPr id="27" name="Text 21"/>
          <p:cNvSpPr/>
          <p:nvPr/>
        </p:nvSpPr>
        <p:spPr>
          <a:xfrm>
            <a:off x="9896264" y="2934548"/>
            <a:ext cx="139065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B6178"/>
                </a:solidFill>
                <a:latin typeface="IBM Plex Sans" pitchFamily="34" charset="0"/>
                <a:ea typeface="IBM Plex Sans" pitchFamily="34" charset="-122"/>
                <a:cs typeface="IBM Plex Sans" pitchFamily="34" charset="-120"/>
              </a:rPr>
              <a:t>FastAPI routes, one vanilla JS/CSS page, no build step</a:t>
            </a:r>
            <a:endParaRPr lang="en-US" sz="1200" dirty="0"/>
          </a:p>
        </p:txBody>
      </p:sp>
      <p:sp>
        <p:nvSpPr>
          <p:cNvPr id="28" name="Shape 22"/>
          <p:cNvSpPr/>
          <p:nvPr/>
        </p:nvSpPr>
        <p:spPr>
          <a:xfrm>
            <a:off x="812800" y="4144434"/>
            <a:ext cx="10566401" cy="975360"/>
          </a:xfrm>
          <a:prstGeom prst="roundRect">
            <a:avLst>
              <a:gd name="adj" fmla="val 10417"/>
            </a:avLst>
          </a:prstGeom>
          <a:solidFill>
            <a:srgbClr val="14162B"/>
          </a:solidFill>
          <a:ln/>
        </p:spPr>
      </p:sp>
      <p:sp>
        <p:nvSpPr>
          <p:cNvPr id="29" name="Text 23"/>
          <p:cNvSpPr/>
          <p:nvPr/>
        </p:nvSpPr>
        <p:spPr>
          <a:xfrm>
            <a:off x="1066800" y="4347634"/>
            <a:ext cx="1088549"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8CA0FF"/>
                </a:solidFill>
                <a:latin typeface="Space Grotesk" pitchFamily="34" charset="0"/>
                <a:ea typeface="Space Grotesk" pitchFamily="34" charset="-122"/>
                <a:cs typeface="Space Grotesk" pitchFamily="34" charset="-120"/>
              </a:rPr>
              <a:t>The one rule</a:t>
            </a:r>
            <a:endParaRPr lang="en-US" sz="1600" dirty="0"/>
          </a:p>
        </p:txBody>
      </p:sp>
      <p:sp>
        <p:nvSpPr>
          <p:cNvPr id="30" name="Text 24"/>
          <p:cNvSpPr/>
          <p:nvPr/>
        </p:nvSpPr>
        <p:spPr>
          <a:xfrm>
            <a:off x="2231549" y="4383194"/>
            <a:ext cx="916046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7FB"/>
                </a:solidFill>
                <a:latin typeface="IBM Plex Sans" pitchFamily="34" charset="0"/>
                <a:ea typeface="IBM Plex Sans" pitchFamily="34" charset="-122"/>
                <a:cs typeface="IBM Plex Sans" pitchFamily="34" charset="-120"/>
              </a:rPr>
              <a:t>The engine calculates. Penny only writes the sentence. The validator checks every number before it reaches a member, every time.</a:t>
            </a:r>
            <a:endParaRPr lang="en-US" sz="1400" dirty="0"/>
          </a:p>
        </p:txBody>
      </p:sp>
      <p:sp>
        <p:nvSpPr>
          <p:cNvPr id="31" name="Text 25"/>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2" name="Text 26"/>
          <p:cNvSpPr/>
          <p:nvPr/>
        </p:nvSpPr>
        <p:spPr>
          <a:xfrm>
            <a:off x="10058401"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DATA LAYER — APP/DATA.PY</a:t>
            </a:r>
            <a:endParaRPr lang="en-US" sz="1200" dirty="0"/>
          </a:p>
        </p:txBody>
      </p:sp>
      <p:sp>
        <p:nvSpPr>
          <p:cNvPr id="3" name="Text 1"/>
          <p:cNvSpPr/>
          <p:nvPr/>
        </p:nvSpPr>
        <p:spPr>
          <a:xfrm>
            <a:off x="812800" y="1127759"/>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Canonicalize once, then grade it</a:t>
            </a:r>
            <a:endParaRPr lang="en-US" sz="3200" dirty="0"/>
          </a:p>
        </p:txBody>
      </p:sp>
      <p:sp>
        <p:nvSpPr>
          <p:cNvPr id="4" name="Text 2"/>
          <p:cNvSpPr/>
          <p:nvPr/>
        </p:nvSpPr>
        <p:spPr>
          <a:xfrm>
            <a:off x="812800" y="18288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The canonical schema</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84399"/>
          <a:ext cx="5146040" cy="1981200"/>
        </p:xfrm>
        <a:graphic>
          <a:graphicData uri="http://schemas.openxmlformats.org/drawingml/2006/table">
            <a:tbl>
              <a:tblPr/>
              <a:tblGrid>
                <a:gridCol w="1440891"/>
                <a:gridCol w="3705149"/>
              </a:tblGrid>
              <a:tr h="330200">
                <a:tc>
                  <a:txBody>
                    <a:bodyPr/>
                    <a:lstStyle/>
                    <a:p>
                      <a:pPr indent="0" marL="0">
                        <a:lnSpc>
                          <a:spcPts val="1680"/>
                        </a:lnSpc>
                        <a:buNone/>
                      </a:pPr>
                      <a:r>
                        <a:rPr lang="en-US" sz="1200" b="1" dirty="0">
                          <a:solidFill>
                            <a:srgbClr val="F6F7FB"/>
                          </a:solidFill>
                          <a:latin typeface="IBM Plex Sans" pitchFamily="34" charset="0"/>
                          <a:ea typeface="IBM Plex Sans" pitchFamily="34" charset="-122"/>
                          <a:cs typeface="IBM Plex Sans" pitchFamily="34" charset="-120"/>
                        </a:rPr>
                        <a:t>Table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c>
                  <a:txBody>
                    <a:bodyPr/>
                    <a:lstStyle/>
                    <a:p>
                      <a:pPr indent="0" marL="0">
                        <a:lnSpc>
                          <a:spcPts val="1680"/>
                        </a:lnSpc>
                        <a:buNone/>
                      </a:pPr>
                      <a:r>
                        <a:rPr lang="en-US" sz="1200" b="1" dirty="0">
                          <a:solidFill>
                            <a:srgbClr val="F6F7FB"/>
                          </a:solidFill>
                          <a:latin typeface="IBM Plex Sans" pitchFamily="34" charset="0"/>
                          <a:ea typeface="IBM Plex Sans" pitchFamily="34" charset="-122"/>
                          <a:cs typeface="IBM Plex Sans" pitchFamily="34" charset="-120"/>
                        </a:rPr>
                        <a:t>Required columns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626"/>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r>
              <a:tr h="330200">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Members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Member_ID, Pay_Cycle,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Transactions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ID, Member, Date, Amount, Category, Dup flag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Debts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Member, Minimum_Payment, Payment_Status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Goals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Member, Type, Target, Saved, Coaching_Tone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200">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Accounts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80"/>
                        </a:lnSpc>
                        <a:buNone/>
                      </a:pPr>
                      <a:r>
                        <a:rPr lang="en-US" sz="1200" dirty="0">
                          <a:solidFill>
                            <a:srgbClr val="14162B"/>
                          </a:solidFill>
                          <a:latin typeface="IBM Plex Sans" pitchFamily="34" charset="0"/>
                          <a:ea typeface="IBM Plex Sans" pitchFamily="34" charset="-122"/>
                          <a:cs typeface="IBM Plex Sans" pitchFamily="34" charset="-120"/>
                        </a:rPr>
                        <a:t>Member, Opening_Balance (synthetic, $500)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bl>
          </a:graphicData>
        </a:graphic>
      </p:graphicFrame>
      <p:sp>
        <p:nvSpPr>
          <p:cNvPr id="6" name="Text 3"/>
          <p:cNvSpPr/>
          <p:nvPr/>
        </p:nvSpPr>
        <p:spPr>
          <a:xfrm>
            <a:off x="812800" y="4267200"/>
            <a:ext cx="53108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The engine reads only these columns, spelled exactly this way. Base tables can change freely underneath.</a:t>
            </a:r>
            <a:endParaRPr lang="en-US" sz="1200" dirty="0"/>
          </a:p>
        </p:txBody>
      </p:sp>
      <p:sp>
        <p:nvSpPr>
          <p:cNvPr id="7" name="Text 4"/>
          <p:cNvSpPr/>
          <p:nvPr/>
        </p:nvSpPr>
        <p:spPr>
          <a:xfrm>
            <a:off x="6223000" y="1828800"/>
            <a:ext cx="531088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Signals, never errors</a:t>
            </a:r>
            <a:endParaRPr lang="en-US" sz="1600" dirty="0"/>
          </a:p>
        </p:txBody>
      </p:sp>
      <p:sp>
        <p:nvSpPr>
          <p:cNvPr id="8" name="Text 5"/>
          <p:cNvSpPr/>
          <p:nvPr/>
        </p:nvSpPr>
        <p:spPr>
          <a:xfrm>
            <a:off x="6223000" y="2174239"/>
            <a:ext cx="53108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178"/>
                </a:solidFill>
                <a:latin typeface="IBM Plex Sans" pitchFamily="34" charset="0"/>
                <a:ea typeface="IBM Plex Sans" pitchFamily="34" charset="-122"/>
                <a:cs typeface="IBM Plex Sans" pitchFamily="34" charset="-120"/>
              </a:rPr>
              <a:t>The organizer's framing: assume the dataset is correct, and its inconsistencies tell us something. So the gate never says "bad data," "invalid," or "error."</a:t>
            </a:r>
            <a:endParaRPr lang="en-US" sz="1300" dirty="0"/>
          </a:p>
        </p:txBody>
      </p:sp>
      <p:sp>
        <p:nvSpPr>
          <p:cNvPr id="9" name="Shape 6"/>
          <p:cNvSpPr/>
          <p:nvPr/>
        </p:nvSpPr>
        <p:spPr>
          <a:xfrm>
            <a:off x="6223000" y="2969259"/>
            <a:ext cx="5156200" cy="467360"/>
          </a:xfrm>
          <a:prstGeom prst="roundRect">
            <a:avLst>
              <a:gd name="adj" fmla="val 16304"/>
            </a:avLst>
          </a:prstGeom>
          <a:solidFill>
            <a:srgbClr val="FFF4DC"/>
          </a:solidFill>
          <a:ln/>
        </p:spPr>
      </p:sp>
      <p:sp>
        <p:nvSpPr>
          <p:cNvPr id="10" name="Text 7"/>
          <p:cNvSpPr/>
          <p:nvPr/>
        </p:nvSpPr>
        <p:spPr>
          <a:xfrm>
            <a:off x="6375400" y="3096259"/>
            <a:ext cx="26497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300"/>
                </a:solidFill>
                <a:latin typeface="IBM Plex Sans" pitchFamily="34" charset="0"/>
                <a:ea typeface="IBM Plex Sans" pitchFamily="34" charset="-122"/>
                <a:cs typeface="IBM Plex Sans" pitchFamily="34" charset="-120"/>
              </a:rPr>
              <a:t>Suggested contribution above income</a:t>
            </a:r>
            <a:endParaRPr lang="en-US" sz="1200" dirty="0"/>
          </a:p>
        </p:txBody>
      </p:sp>
      <p:sp>
        <p:nvSpPr>
          <p:cNvPr id="11" name="Text 8"/>
          <p:cNvSpPr/>
          <p:nvPr/>
        </p:nvSpPr>
        <p:spPr>
          <a:xfrm>
            <a:off x="10117667" y="3096259"/>
            <a:ext cx="11599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needs attention</a:t>
            </a:r>
            <a:endParaRPr lang="en-US" sz="1200" dirty="0"/>
          </a:p>
        </p:txBody>
      </p:sp>
      <p:sp>
        <p:nvSpPr>
          <p:cNvPr id="12" name="Shape 9"/>
          <p:cNvSpPr/>
          <p:nvPr/>
        </p:nvSpPr>
        <p:spPr>
          <a:xfrm>
            <a:off x="6223000" y="3525520"/>
            <a:ext cx="5156200" cy="467360"/>
          </a:xfrm>
          <a:prstGeom prst="roundRect">
            <a:avLst>
              <a:gd name="adj" fmla="val 16304"/>
            </a:avLst>
          </a:prstGeom>
          <a:solidFill>
            <a:srgbClr val="FFF4DC"/>
          </a:solidFill>
          <a:ln/>
        </p:spPr>
      </p:sp>
      <p:sp>
        <p:nvSpPr>
          <p:cNvPr id="13" name="Text 10"/>
          <p:cNvSpPr/>
          <p:nvPr/>
        </p:nvSpPr>
        <p:spPr>
          <a:xfrm>
            <a:off x="6375400" y="3652520"/>
            <a:ext cx="29135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300"/>
                </a:solidFill>
                <a:latin typeface="IBM Plex Sans" pitchFamily="34" charset="0"/>
                <a:ea typeface="IBM Plex Sans" pitchFamily="34" charset="-122"/>
                <a:cs typeface="IBM Plex Sans" pitchFamily="34" charset="-120"/>
              </a:rPr>
              <a:t>Debt payoff months: stored vs. ours differ</a:t>
            </a:r>
            <a:endParaRPr lang="en-US" sz="1200" dirty="0"/>
          </a:p>
        </p:txBody>
      </p:sp>
      <p:sp>
        <p:nvSpPr>
          <p:cNvPr id="14" name="Text 11"/>
          <p:cNvSpPr/>
          <p:nvPr/>
        </p:nvSpPr>
        <p:spPr>
          <a:xfrm>
            <a:off x="10117667" y="3652520"/>
            <a:ext cx="11599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needs attention</a:t>
            </a:r>
            <a:endParaRPr lang="en-US" sz="1200" dirty="0"/>
          </a:p>
        </p:txBody>
      </p:sp>
      <p:sp>
        <p:nvSpPr>
          <p:cNvPr id="15" name="Shape 12"/>
          <p:cNvSpPr/>
          <p:nvPr/>
        </p:nvSpPr>
        <p:spPr>
          <a:xfrm>
            <a:off x="6223000" y="4081780"/>
            <a:ext cx="5156200" cy="467360"/>
          </a:xfrm>
          <a:prstGeom prst="roundRect">
            <a:avLst>
              <a:gd name="adj" fmla="val 16304"/>
            </a:avLst>
          </a:prstGeom>
          <a:solidFill>
            <a:srgbClr val="FFF4DC"/>
          </a:solidFill>
          <a:ln/>
        </p:spPr>
      </p:sp>
      <p:sp>
        <p:nvSpPr>
          <p:cNvPr id="16" name="Text 13"/>
          <p:cNvSpPr/>
          <p:nvPr/>
        </p:nvSpPr>
        <p:spPr>
          <a:xfrm>
            <a:off x="6375400" y="4208780"/>
            <a:ext cx="34055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300"/>
                </a:solidFill>
                <a:latin typeface="IBM Plex Sans" pitchFamily="34" charset="0"/>
                <a:ea typeface="IBM Plex Sans" pitchFamily="34" charset="-122"/>
                <a:cs typeface="IBM Plex Sans" pitchFamily="34" charset="-120"/>
              </a:rPr>
              <a:t>Credit band overlaps another band's score range</a:t>
            </a:r>
            <a:endParaRPr lang="en-US" sz="1200" dirty="0"/>
          </a:p>
        </p:txBody>
      </p:sp>
      <p:sp>
        <p:nvSpPr>
          <p:cNvPr id="17" name="Text 14"/>
          <p:cNvSpPr/>
          <p:nvPr/>
        </p:nvSpPr>
        <p:spPr>
          <a:xfrm>
            <a:off x="10117667" y="4208780"/>
            <a:ext cx="115993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needs attention</a:t>
            </a:r>
            <a:endParaRPr lang="en-US" sz="1200" dirty="0"/>
          </a:p>
        </p:txBody>
      </p:sp>
      <p:sp>
        <p:nvSpPr>
          <p:cNvPr id="18" name="Text 15"/>
          <p:cNvSpPr/>
          <p:nvPr/>
        </p:nvSpPr>
        <p:spPr>
          <a:xfrm>
            <a:off x="6223000" y="4650739"/>
            <a:ext cx="53108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Only structural problems fail and block the engine: a missing required column, a broken Member_ID link, a duplicate transaction ID.</a:t>
            </a:r>
            <a:endParaRPr lang="en-US" sz="1200" dirty="0"/>
          </a:p>
        </p:txBody>
      </p:sp>
      <p:sp>
        <p:nvSpPr>
          <p:cNvPr id="19" name="Text 16"/>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20" name="Text 17"/>
          <p:cNvSpPr/>
          <p:nvPr/>
        </p:nvSpPr>
        <p:spPr>
          <a:xfrm>
            <a:off x="10058401"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TARGET NORMALIZED SCHEMA</a:t>
            </a:r>
            <a:endParaRPr lang="en-US" sz="1200" dirty="0"/>
          </a:p>
        </p:txBody>
      </p:sp>
      <p:sp>
        <p:nvSpPr>
          <p:cNvPr id="3" name="Text 1"/>
          <p:cNvSpPr/>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12 tables, one flat workbook untangled</a:t>
            </a:r>
            <a:endParaRPr lang="en-US" sz="3200" dirty="0"/>
          </a:p>
        </p:txBody>
      </p:sp>
      <p:sp>
        <p:nvSpPr>
          <p:cNvPr id="4" name="Shape 2"/>
          <p:cNvSpPr/>
          <p:nvPr/>
        </p:nvSpPr>
        <p:spPr>
          <a:xfrm>
            <a:off x="815975" y="1806575"/>
            <a:ext cx="2339552" cy="2736850"/>
          </a:xfrm>
          <a:prstGeom prst="roundRect">
            <a:avLst>
              <a:gd name="adj" fmla="val 4207"/>
            </a:avLst>
          </a:prstGeom>
          <a:solidFill>
            <a:srgbClr val="FFFFFF"/>
          </a:solidFill>
          <a:ln w="6350">
            <a:solidFill>
              <a:srgbClr val="E4E7F2"/>
            </a:solidFill>
            <a:prstDash val="solid"/>
          </a:ln>
        </p:spPr>
      </p:sp>
      <p:sp>
        <p:nvSpPr>
          <p:cNvPr id="5" name="Text 3"/>
          <p:cNvSpPr/>
          <p:nvPr/>
        </p:nvSpPr>
        <p:spPr>
          <a:xfrm>
            <a:off x="1019387" y="2009989"/>
            <a:ext cx="199071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356FF"/>
                </a:solidFill>
                <a:latin typeface="Space Grotesk" pitchFamily="34" charset="0"/>
                <a:ea typeface="Space Grotesk" pitchFamily="34" charset="-122"/>
                <a:cs typeface="Space Grotesk" pitchFamily="34" charset="-120"/>
              </a:rPr>
              <a:t>Reference</a:t>
            </a:r>
            <a:endParaRPr lang="en-US" sz="1400" dirty="0"/>
          </a:p>
        </p:txBody>
      </p:sp>
      <p:sp>
        <p:nvSpPr>
          <p:cNvPr id="6" name="Text 4"/>
          <p:cNvSpPr/>
          <p:nvPr/>
        </p:nvSpPr>
        <p:spPr>
          <a:xfrm>
            <a:off x="1019387" y="2312250"/>
            <a:ext cx="1990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pay_cycle</a:t>
            </a:r>
            <a:endParaRPr lang="en-US" sz="1200" dirty="0"/>
          </a:p>
        </p:txBody>
      </p:sp>
      <p:sp>
        <p:nvSpPr>
          <p:cNvPr id="7" name="Text 5"/>
          <p:cNvSpPr/>
          <p:nvPr/>
        </p:nvSpPr>
        <p:spPr>
          <a:xfrm>
            <a:off x="1019387" y="2614507"/>
            <a:ext cx="1990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region</a:t>
            </a:r>
            <a:endParaRPr lang="en-US" sz="1200" dirty="0"/>
          </a:p>
        </p:txBody>
      </p:sp>
      <p:sp>
        <p:nvSpPr>
          <p:cNvPr id="8" name="Text 6"/>
          <p:cNvSpPr/>
          <p:nvPr/>
        </p:nvSpPr>
        <p:spPr>
          <a:xfrm>
            <a:off x="1019387" y="2916768"/>
            <a:ext cx="1990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category</a:t>
            </a:r>
            <a:endParaRPr lang="en-US" sz="1200" dirty="0"/>
          </a:p>
        </p:txBody>
      </p:sp>
      <p:sp>
        <p:nvSpPr>
          <p:cNvPr id="9" name="Text 7"/>
          <p:cNvSpPr/>
          <p:nvPr/>
        </p:nvSpPr>
        <p:spPr>
          <a:xfrm>
            <a:off x="1019387" y="3219028"/>
            <a:ext cx="19907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lender</a:t>
            </a:r>
            <a:endParaRPr lang="en-US" sz="1200" dirty="0"/>
          </a:p>
        </p:txBody>
      </p:sp>
      <p:sp>
        <p:nvSpPr>
          <p:cNvPr id="10" name="Shape 8"/>
          <p:cNvSpPr/>
          <p:nvPr/>
        </p:nvSpPr>
        <p:spPr>
          <a:xfrm>
            <a:off x="3365077" y="1806575"/>
            <a:ext cx="2339605" cy="2736850"/>
          </a:xfrm>
          <a:prstGeom prst="roundRect">
            <a:avLst>
              <a:gd name="adj" fmla="val 4207"/>
            </a:avLst>
          </a:prstGeom>
          <a:solidFill>
            <a:srgbClr val="FFFFFF"/>
          </a:solidFill>
          <a:ln w="6350">
            <a:solidFill>
              <a:srgbClr val="E4E7F2"/>
            </a:solidFill>
            <a:prstDash val="solid"/>
          </a:ln>
        </p:spPr>
      </p:sp>
      <p:sp>
        <p:nvSpPr>
          <p:cNvPr id="11" name="Text 9"/>
          <p:cNvSpPr/>
          <p:nvPr/>
        </p:nvSpPr>
        <p:spPr>
          <a:xfrm>
            <a:off x="3568488" y="2009989"/>
            <a:ext cx="19907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356FF"/>
                </a:solidFill>
                <a:latin typeface="Space Grotesk" pitchFamily="34" charset="0"/>
                <a:ea typeface="Space Grotesk" pitchFamily="34" charset="-122"/>
                <a:cs typeface="Space Grotesk" pitchFamily="34" charset="-120"/>
              </a:rPr>
              <a:t>Member-owned</a:t>
            </a:r>
            <a:endParaRPr lang="en-US" sz="1400" dirty="0"/>
          </a:p>
        </p:txBody>
      </p:sp>
      <p:sp>
        <p:nvSpPr>
          <p:cNvPr id="12" name="Text 10"/>
          <p:cNvSpPr/>
          <p:nvPr/>
        </p:nvSpPr>
        <p:spPr>
          <a:xfrm>
            <a:off x="3568488" y="2312250"/>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member</a:t>
            </a:r>
            <a:endParaRPr lang="en-US" sz="1200" dirty="0"/>
          </a:p>
        </p:txBody>
      </p:sp>
      <p:sp>
        <p:nvSpPr>
          <p:cNvPr id="13" name="Text 11"/>
          <p:cNvSpPr/>
          <p:nvPr/>
        </p:nvSpPr>
        <p:spPr>
          <a:xfrm>
            <a:off x="3568488" y="2614507"/>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account</a:t>
            </a:r>
            <a:endParaRPr lang="en-US" sz="1200" dirty="0"/>
          </a:p>
        </p:txBody>
      </p:sp>
      <p:sp>
        <p:nvSpPr>
          <p:cNvPr id="14" name="Text 12"/>
          <p:cNvSpPr/>
          <p:nvPr/>
        </p:nvSpPr>
        <p:spPr>
          <a:xfrm>
            <a:off x="3568488" y="2916768"/>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debt</a:t>
            </a:r>
            <a:endParaRPr lang="en-US" sz="1200" dirty="0"/>
          </a:p>
        </p:txBody>
      </p:sp>
      <p:sp>
        <p:nvSpPr>
          <p:cNvPr id="15" name="Text 13"/>
          <p:cNvSpPr/>
          <p:nvPr/>
        </p:nvSpPr>
        <p:spPr>
          <a:xfrm>
            <a:off x="3568488" y="3219028"/>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credit_profile</a:t>
            </a:r>
            <a:endParaRPr lang="en-US" sz="1200" dirty="0"/>
          </a:p>
        </p:txBody>
      </p:sp>
      <p:sp>
        <p:nvSpPr>
          <p:cNvPr id="16" name="Text 14"/>
          <p:cNvSpPr/>
          <p:nvPr/>
        </p:nvSpPr>
        <p:spPr>
          <a:xfrm>
            <a:off x="3568488" y="3521289"/>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goal</a:t>
            </a:r>
            <a:endParaRPr lang="en-US" sz="1200" dirty="0"/>
          </a:p>
        </p:txBody>
      </p:sp>
      <p:sp>
        <p:nvSpPr>
          <p:cNvPr id="17" name="Shape 15"/>
          <p:cNvSpPr/>
          <p:nvPr/>
        </p:nvSpPr>
        <p:spPr>
          <a:xfrm>
            <a:off x="5914232" y="1806575"/>
            <a:ext cx="2339605" cy="2736850"/>
          </a:xfrm>
          <a:prstGeom prst="roundRect">
            <a:avLst>
              <a:gd name="adj" fmla="val 4207"/>
            </a:avLst>
          </a:prstGeom>
          <a:solidFill>
            <a:srgbClr val="FFFFFF"/>
          </a:solidFill>
          <a:ln w="6350">
            <a:solidFill>
              <a:srgbClr val="E4E7F2"/>
            </a:solidFill>
            <a:prstDash val="solid"/>
          </a:ln>
        </p:spPr>
      </p:sp>
      <p:sp>
        <p:nvSpPr>
          <p:cNvPr id="18" name="Text 16"/>
          <p:cNvSpPr/>
          <p:nvPr/>
        </p:nvSpPr>
        <p:spPr>
          <a:xfrm>
            <a:off x="6117643" y="2009989"/>
            <a:ext cx="199076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356FF"/>
                </a:solidFill>
                <a:latin typeface="Space Grotesk" pitchFamily="34" charset="0"/>
                <a:ea typeface="Space Grotesk" pitchFamily="34" charset="-122"/>
                <a:cs typeface="Space Grotesk" pitchFamily="34" charset="-120"/>
              </a:rPr>
              <a:t>Transactional</a:t>
            </a:r>
            <a:endParaRPr lang="en-US" sz="1400" dirty="0"/>
          </a:p>
        </p:txBody>
      </p:sp>
      <p:sp>
        <p:nvSpPr>
          <p:cNvPr id="19" name="Text 17"/>
          <p:cNvSpPr/>
          <p:nvPr/>
        </p:nvSpPr>
        <p:spPr>
          <a:xfrm>
            <a:off x="6117643" y="2312250"/>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merchant</a:t>
            </a:r>
            <a:endParaRPr lang="en-US" sz="1200" dirty="0"/>
          </a:p>
        </p:txBody>
      </p:sp>
      <p:sp>
        <p:nvSpPr>
          <p:cNvPr id="20" name="Text 18"/>
          <p:cNvSpPr/>
          <p:nvPr/>
        </p:nvSpPr>
        <p:spPr>
          <a:xfrm>
            <a:off x="6117643" y="2614507"/>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transaction</a:t>
            </a:r>
            <a:endParaRPr lang="en-US" sz="1200" dirty="0"/>
          </a:p>
        </p:txBody>
      </p:sp>
      <p:sp>
        <p:nvSpPr>
          <p:cNvPr id="21" name="Text 19"/>
          <p:cNvSpPr/>
          <p:nvPr/>
        </p:nvSpPr>
        <p:spPr>
          <a:xfrm>
            <a:off x="6117643" y="2916768"/>
            <a:ext cx="19907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62B"/>
                </a:solidFill>
                <a:latin typeface="Courier New" pitchFamily="34" charset="0"/>
                <a:ea typeface="Courier New" pitchFamily="34" charset="-122"/>
                <a:cs typeface="Courier New" pitchFamily="34" charset="-120"/>
              </a:rPr>
              <a:t>coach_checkin</a:t>
            </a:r>
            <a:endParaRPr lang="en-US" sz="1200" dirty="0"/>
          </a:p>
        </p:txBody>
      </p:sp>
      <p:sp>
        <p:nvSpPr>
          <p:cNvPr id="22" name="Shape 20"/>
          <p:cNvSpPr/>
          <p:nvPr/>
        </p:nvSpPr>
        <p:spPr>
          <a:xfrm>
            <a:off x="8460212" y="1803400"/>
            <a:ext cx="2918989" cy="2743200"/>
          </a:xfrm>
          <a:prstGeom prst="roundRect">
            <a:avLst>
              <a:gd name="adj" fmla="val 3704"/>
            </a:avLst>
          </a:prstGeom>
          <a:solidFill>
            <a:srgbClr val="14162B"/>
          </a:solidFill>
          <a:ln/>
        </p:spPr>
      </p:sp>
      <p:sp>
        <p:nvSpPr>
          <p:cNvPr id="23" name="Text 21"/>
          <p:cNvSpPr/>
          <p:nvPr/>
        </p:nvSpPr>
        <p:spPr>
          <a:xfrm>
            <a:off x="8663412" y="2006600"/>
            <a:ext cx="25879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CA0FF"/>
                </a:solidFill>
                <a:latin typeface="Space Grotesk" pitchFamily="34" charset="0"/>
                <a:ea typeface="Space Grotesk" pitchFamily="34" charset="-122"/>
                <a:cs typeface="Space Grotesk" pitchFamily="34" charset="-120"/>
              </a:rPr>
              <a:t>What normalizing removes</a:t>
            </a:r>
            <a:endParaRPr lang="en-US" sz="1400" dirty="0"/>
          </a:p>
        </p:txBody>
      </p:sp>
      <p:sp>
        <p:nvSpPr>
          <p:cNvPr id="24" name="Text 22"/>
          <p:cNvSpPr/>
          <p:nvPr/>
        </p:nvSpPr>
        <p:spPr>
          <a:xfrm>
            <a:off x="8663412" y="2321561"/>
            <a:ext cx="2587967"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B"/>
                </a:solidFill>
                <a:latin typeface="IBM Plex Sans" pitchFamily="34" charset="0"/>
                <a:ea typeface="IBM Plex Sans" pitchFamily="34" charset="-122"/>
                <a:cs typeface="IBM Plex Sans" pitchFamily="34" charset="-120"/>
              </a:rPr>
              <a:t>Merchant determines Category, which determines Need_Type, stored on every one of 10,000+ rows in the flat file. Normalized, they're stored once.</a:t>
            </a:r>
            <a:endParaRPr lang="en-US" sz="1200" dirty="0"/>
          </a:p>
        </p:txBody>
      </p:sp>
      <p:sp>
        <p:nvSpPr>
          <p:cNvPr id="25" name="Text 23"/>
          <p:cNvSpPr/>
          <p:nvPr/>
        </p:nvSpPr>
        <p:spPr>
          <a:xfrm>
            <a:off x="8663412" y="3489961"/>
            <a:ext cx="258796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D"/>
                </a:solidFill>
                <a:latin typeface="IBM Plex Sans" pitchFamily="34" charset="0"/>
                <a:ea typeface="IBM Plex Sans" pitchFamily="34" charset="-122"/>
                <a:cs typeface="IBM Plex Sans" pitchFamily="34" charset="-120"/>
              </a:rPr>
              <a:t>Unreliable stored estimates (payoff months, suggested contribution) are dropped from the tables entirely and computed in code.</a:t>
            </a:r>
            <a:endParaRPr lang="en-US" sz="1200" dirty="0"/>
          </a:p>
        </p:txBody>
      </p:sp>
      <p:sp>
        <p:nvSpPr>
          <p:cNvPr id="26" name="Shape 24"/>
          <p:cNvSpPr/>
          <p:nvPr/>
        </p:nvSpPr>
        <p:spPr>
          <a:xfrm>
            <a:off x="812800" y="4775203"/>
            <a:ext cx="10566401" cy="802640"/>
          </a:xfrm>
          <a:prstGeom prst="roundRect">
            <a:avLst>
              <a:gd name="adj" fmla="val 12658"/>
            </a:avLst>
          </a:prstGeom>
          <a:solidFill>
            <a:srgbClr val="E8EBFF"/>
          </a:solidFill>
          <a:ln/>
        </p:spPr>
      </p:sp>
      <p:sp>
        <p:nvSpPr>
          <p:cNvPr id="27" name="Text 25"/>
          <p:cNvSpPr/>
          <p:nvPr/>
        </p:nvSpPr>
        <p:spPr>
          <a:xfrm>
            <a:off x="1016000" y="4927603"/>
            <a:ext cx="35856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694"/>
                </a:solidFill>
                <a:latin typeface="Space Grotesk" pitchFamily="34" charset="0"/>
                <a:ea typeface="Space Grotesk" pitchFamily="34" charset="-122"/>
                <a:cs typeface="Space Grotesk" pitchFamily="34" charset="-120"/>
              </a:rPr>
              <a:t>Status</a:t>
            </a:r>
            <a:endParaRPr lang="en-US" sz="1400" dirty="0"/>
          </a:p>
        </p:txBody>
      </p:sp>
      <p:sp>
        <p:nvSpPr>
          <p:cNvPr id="28" name="Text 26"/>
          <p:cNvSpPr/>
          <p:nvPr/>
        </p:nvSpPr>
        <p:spPr>
          <a:xfrm>
            <a:off x="1450763" y="4945382"/>
            <a:ext cx="1001699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94"/>
                </a:solidFill>
                <a:latin typeface="IBM Plex Sans" pitchFamily="34" charset="0"/>
                <a:ea typeface="IBM Plex Sans" pitchFamily="34" charset="-122"/>
                <a:cs typeface="IBM Plex Sans" pitchFamily="34" charset="-120"/>
              </a:rPr>
              <a:t>This is the designed target schema (full ER diagram in docs/er_diagram.md). The current build still reads the workbook directly in data.py; the canonical column contract is what lets a SQLite build swap in underneath without touching the engine.</a:t>
            </a:r>
            <a:endParaRPr lang="en-US" sz="1300" dirty="0"/>
          </a:p>
        </p:txBody>
      </p:sp>
      <p:sp>
        <p:nvSpPr>
          <p:cNvPr id="29" name="Text 27"/>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0" name="Text 28"/>
          <p:cNvSpPr/>
          <p:nvPr/>
        </p:nvSpPr>
        <p:spPr>
          <a:xfrm>
            <a:off x="10058401"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THE ENGINE — APP/ENGINE.PY</a:t>
            </a:r>
            <a:endParaRPr lang="en-US" sz="1200" dirty="0"/>
          </a:p>
        </p:txBody>
      </p:sp>
      <p:sp>
        <p:nvSpPr>
          <p:cNvPr id="3" name="Text 1"/>
          <p:cNvSpPr/>
          <p:nvPr/>
        </p:nvSpPr>
        <p:spPr>
          <a:xfrm>
            <a:off x="812800" y="112775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safe_to_save(member, as_of)</a:t>
            </a:r>
            <a:endParaRPr lang="en-US" sz="3200" dirty="0"/>
          </a:p>
        </p:txBody>
      </p:sp>
      <p:sp>
        <p:nvSpPr>
          <p:cNvPr id="4" name="Text 2"/>
          <p:cNvSpPr/>
          <p:nvPr/>
        </p:nvSpPr>
        <p:spPr>
          <a:xfrm>
            <a:off x="812800" y="1803400"/>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1</a:t>
            </a:r>
            <a:endParaRPr lang="en-US" sz="1400" dirty="0"/>
          </a:p>
        </p:txBody>
      </p:sp>
      <p:sp>
        <p:nvSpPr>
          <p:cNvPr id="5" name="Text 3"/>
          <p:cNvSpPr/>
          <p:nvPr/>
        </p:nvSpPr>
        <p:spPr>
          <a:xfrm>
            <a:off x="1231900" y="1803400"/>
            <a:ext cx="37781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Window = the 3 full calendar months before as_of</a:t>
            </a:r>
            <a:endParaRPr lang="en-US" sz="1300" dirty="0"/>
          </a:p>
        </p:txBody>
      </p:sp>
      <p:sp>
        <p:nvSpPr>
          <p:cNvPr id="6" name="Text 4"/>
          <p:cNvSpPr/>
          <p:nvPr/>
        </p:nvSpPr>
        <p:spPr>
          <a:xfrm>
            <a:off x="812800" y="2166618"/>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2</a:t>
            </a:r>
            <a:endParaRPr lang="en-US" sz="1400" dirty="0"/>
          </a:p>
        </p:txBody>
      </p:sp>
      <p:sp>
        <p:nvSpPr>
          <p:cNvPr id="7" name="Text 5"/>
          <p:cNvSpPr/>
          <p:nvPr/>
        </p:nvSpPr>
        <p:spPr>
          <a:xfrm>
            <a:off x="1231900" y="2166618"/>
            <a:ext cx="48306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Monthly income = mean of the window (lowest month if pay is Irregular)</a:t>
            </a:r>
            <a:endParaRPr lang="en-US" sz="1300" dirty="0"/>
          </a:p>
        </p:txBody>
      </p:sp>
      <p:sp>
        <p:nvSpPr>
          <p:cNvPr id="8" name="Text 6"/>
          <p:cNvSpPr/>
          <p:nvPr/>
        </p:nvSpPr>
        <p:spPr>
          <a:xfrm>
            <a:off x="812800" y="2743200"/>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3</a:t>
            </a:r>
            <a:endParaRPr lang="en-US" sz="1400" dirty="0"/>
          </a:p>
        </p:txBody>
      </p:sp>
      <p:sp>
        <p:nvSpPr>
          <p:cNvPr id="9" name="Text 7"/>
          <p:cNvSpPr/>
          <p:nvPr/>
        </p:nvSpPr>
        <p:spPr>
          <a:xfrm>
            <a:off x="1231900" y="2743200"/>
            <a:ext cx="48306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Monthly outflow = mean absolute spending over the same window</a:t>
            </a:r>
            <a:endParaRPr lang="en-US" sz="1300" dirty="0"/>
          </a:p>
        </p:txBody>
      </p:sp>
      <p:sp>
        <p:nvSpPr>
          <p:cNvPr id="10" name="Text 8"/>
          <p:cNvSpPr/>
          <p:nvPr/>
        </p:nvSpPr>
        <p:spPr>
          <a:xfrm>
            <a:off x="812800" y="3319779"/>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4</a:t>
            </a:r>
            <a:endParaRPr lang="en-US" sz="1400" dirty="0"/>
          </a:p>
        </p:txBody>
      </p:sp>
      <p:sp>
        <p:nvSpPr>
          <p:cNvPr id="11" name="Text 9"/>
          <p:cNvSpPr/>
          <p:nvPr/>
        </p:nvSpPr>
        <p:spPr>
          <a:xfrm>
            <a:off x="1231900" y="3319779"/>
            <a:ext cx="48306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Subtract debt minimums, since they never appear as transactions</a:t>
            </a:r>
            <a:endParaRPr lang="en-US" sz="1300" dirty="0"/>
          </a:p>
        </p:txBody>
      </p:sp>
      <p:sp>
        <p:nvSpPr>
          <p:cNvPr id="12" name="Text 10"/>
          <p:cNvSpPr/>
          <p:nvPr/>
        </p:nvSpPr>
        <p:spPr>
          <a:xfrm>
            <a:off x="812800" y="3896358"/>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5</a:t>
            </a:r>
            <a:endParaRPr lang="en-US" sz="1400" dirty="0"/>
          </a:p>
        </p:txBody>
      </p:sp>
      <p:sp>
        <p:nvSpPr>
          <p:cNvPr id="13" name="Text 11"/>
          <p:cNvSpPr/>
          <p:nvPr/>
        </p:nvSpPr>
        <p:spPr>
          <a:xfrm>
            <a:off x="1231900" y="3896358"/>
            <a:ext cx="344564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surplus = income − outflow − debt minimums</a:t>
            </a:r>
            <a:endParaRPr lang="en-US" sz="1300" dirty="0"/>
          </a:p>
        </p:txBody>
      </p:sp>
      <p:sp>
        <p:nvSpPr>
          <p:cNvPr id="14" name="Text 12"/>
          <p:cNvSpPr/>
          <p:nvPr/>
        </p:nvSpPr>
        <p:spPr>
          <a:xfrm>
            <a:off x="812800" y="4259579"/>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6</a:t>
            </a:r>
            <a:endParaRPr lang="en-US" sz="1400" dirty="0"/>
          </a:p>
        </p:txBody>
      </p:sp>
      <p:sp>
        <p:nvSpPr>
          <p:cNvPr id="15" name="Text 13"/>
          <p:cNvSpPr/>
          <p:nvPr/>
        </p:nvSpPr>
        <p:spPr>
          <a:xfrm>
            <a:off x="1231900" y="4259579"/>
            <a:ext cx="475777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safe monthly = max(0, surplus × 0.75), a 25% buffer held back</a:t>
            </a:r>
            <a:endParaRPr lang="en-US" sz="1300" dirty="0"/>
          </a:p>
        </p:txBody>
      </p:sp>
      <p:sp>
        <p:nvSpPr>
          <p:cNvPr id="16" name="Text 14"/>
          <p:cNvSpPr/>
          <p:nvPr/>
        </p:nvSpPr>
        <p:spPr>
          <a:xfrm>
            <a:off x="812800" y="4622800"/>
            <a:ext cx="3556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356FF"/>
                </a:solidFill>
                <a:latin typeface="Space Grotesk" pitchFamily="34" charset="0"/>
                <a:ea typeface="Space Grotesk" pitchFamily="34" charset="-122"/>
                <a:cs typeface="Space Grotesk" pitchFamily="34" charset="-120"/>
              </a:rPr>
              <a:t>7</a:t>
            </a:r>
            <a:endParaRPr lang="en-US" sz="1400" dirty="0"/>
          </a:p>
        </p:txBody>
      </p:sp>
      <p:sp>
        <p:nvSpPr>
          <p:cNvPr id="17" name="Text 15"/>
          <p:cNvSpPr/>
          <p:nvPr/>
        </p:nvSpPr>
        <p:spPr>
          <a:xfrm>
            <a:off x="1231900" y="4622800"/>
            <a:ext cx="48306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Divide by paychecks per month, capped at the goal's remaining balance</a:t>
            </a:r>
            <a:endParaRPr lang="en-US" sz="1300" dirty="0"/>
          </a:p>
        </p:txBody>
      </p:sp>
      <p:sp>
        <p:nvSpPr>
          <p:cNvPr id="18" name="Shape 16"/>
          <p:cNvSpPr/>
          <p:nvPr/>
        </p:nvSpPr>
        <p:spPr>
          <a:xfrm>
            <a:off x="6226652" y="1803400"/>
            <a:ext cx="5152549" cy="4038600"/>
          </a:xfrm>
          <a:prstGeom prst="roundRect">
            <a:avLst>
              <a:gd name="adj" fmla="val 3145"/>
            </a:avLst>
          </a:prstGeom>
          <a:solidFill>
            <a:srgbClr val="14162B"/>
          </a:solidFill>
          <a:ln/>
        </p:spPr>
      </p:sp>
      <p:sp>
        <p:nvSpPr>
          <p:cNvPr id="19" name="Text 17"/>
          <p:cNvSpPr/>
          <p:nvPr/>
        </p:nvSpPr>
        <p:spPr>
          <a:xfrm>
            <a:off x="6480652" y="2057400"/>
            <a:ext cx="4783886"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CA0FF"/>
                </a:solidFill>
                <a:latin typeface="IBM Plex Sans" pitchFamily="34" charset="0"/>
                <a:ea typeface="IBM Plex Sans" pitchFamily="34" charset="-122"/>
                <a:cs typeface="IBM Plex Sans" pitchFamily="34" charset="-120"/>
              </a:rPr>
              <a:t>WORKED EXAMPLE — MBR-0026, WEEKLY PAY</a:t>
            </a:r>
            <a:endParaRPr lang="en-US" sz="1200" dirty="0"/>
          </a:p>
        </p:txBody>
      </p:sp>
      <p:sp>
        <p:nvSpPr>
          <p:cNvPr id="20" name="Shape 18"/>
          <p:cNvSpPr/>
          <p:nvPr/>
        </p:nvSpPr>
        <p:spPr>
          <a:xfrm>
            <a:off x="6480652" y="2426333"/>
            <a:ext cx="4644549" cy="0"/>
          </a:xfrm>
          <a:prstGeom prst="line">
            <a:avLst/>
          </a:prstGeom>
          <a:noFill/>
          <a:ln w="6350">
            <a:solidFill>
              <a:srgbClr val="2A2D52"/>
            </a:solidFill>
            <a:prstDash val="solid"/>
          </a:ln>
        </p:spPr>
      </p:sp>
      <p:sp>
        <p:nvSpPr>
          <p:cNvPr id="21" name="Text 19"/>
          <p:cNvSpPr/>
          <p:nvPr/>
        </p:nvSpPr>
        <p:spPr>
          <a:xfrm>
            <a:off x="6480652" y="2502746"/>
            <a:ext cx="124317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DD"/>
                </a:solidFill>
                <a:latin typeface="IBM Plex Sans" pitchFamily="34" charset="0"/>
                <a:ea typeface="IBM Plex Sans" pitchFamily="34" charset="-122"/>
                <a:cs typeface="IBM Plex Sans" pitchFamily="34" charset="-120"/>
              </a:rPr>
              <a:t>Income / month</a:t>
            </a:r>
            <a:endParaRPr lang="en-US" sz="1300" dirty="0"/>
          </a:p>
        </p:txBody>
      </p:sp>
      <p:sp>
        <p:nvSpPr>
          <p:cNvPr id="22" name="Text 20"/>
          <p:cNvSpPr/>
          <p:nvPr/>
        </p:nvSpPr>
        <p:spPr>
          <a:xfrm>
            <a:off x="10233502" y="2502746"/>
            <a:ext cx="9424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B"/>
                </a:solidFill>
                <a:latin typeface="Courier New" pitchFamily="34" charset="0"/>
                <a:ea typeface="Courier New" pitchFamily="34" charset="-122"/>
                <a:cs typeface="Courier New" pitchFamily="34" charset="-120"/>
              </a:rPr>
              <a:t>$4,424.33</a:t>
            </a:r>
            <a:endParaRPr lang="en-US" sz="1300" dirty="0"/>
          </a:p>
        </p:txBody>
      </p:sp>
      <p:sp>
        <p:nvSpPr>
          <p:cNvPr id="23" name="Shape 21"/>
          <p:cNvSpPr/>
          <p:nvPr/>
        </p:nvSpPr>
        <p:spPr>
          <a:xfrm>
            <a:off x="6480652" y="2813261"/>
            <a:ext cx="4644549" cy="0"/>
          </a:xfrm>
          <a:prstGeom prst="line">
            <a:avLst/>
          </a:prstGeom>
          <a:noFill/>
          <a:ln w="6350">
            <a:solidFill>
              <a:srgbClr val="2A2D52"/>
            </a:solidFill>
            <a:prstDash val="solid"/>
          </a:ln>
        </p:spPr>
      </p:sp>
      <p:sp>
        <p:nvSpPr>
          <p:cNvPr id="24" name="Text 22"/>
          <p:cNvSpPr/>
          <p:nvPr/>
        </p:nvSpPr>
        <p:spPr>
          <a:xfrm>
            <a:off x="6480652" y="2889672"/>
            <a:ext cx="125788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DD"/>
                </a:solidFill>
                <a:latin typeface="IBM Plex Sans" pitchFamily="34" charset="0"/>
                <a:ea typeface="IBM Plex Sans" pitchFamily="34" charset="-122"/>
                <a:cs typeface="IBM Plex Sans" pitchFamily="34" charset="-120"/>
              </a:rPr>
              <a:t>Outflow / month</a:t>
            </a:r>
            <a:endParaRPr lang="en-US" sz="1300" dirty="0"/>
          </a:p>
        </p:txBody>
      </p:sp>
      <p:sp>
        <p:nvSpPr>
          <p:cNvPr id="25" name="Text 23"/>
          <p:cNvSpPr/>
          <p:nvPr/>
        </p:nvSpPr>
        <p:spPr>
          <a:xfrm>
            <a:off x="10233502" y="2889672"/>
            <a:ext cx="9424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B"/>
                </a:solidFill>
                <a:latin typeface="Courier New" pitchFamily="34" charset="0"/>
                <a:ea typeface="Courier New" pitchFamily="34" charset="-122"/>
                <a:cs typeface="Courier New" pitchFamily="34" charset="-120"/>
              </a:rPr>
              <a:t>$2,970.46</a:t>
            </a:r>
            <a:endParaRPr lang="en-US" sz="1300" dirty="0"/>
          </a:p>
        </p:txBody>
      </p:sp>
      <p:sp>
        <p:nvSpPr>
          <p:cNvPr id="26" name="Shape 24"/>
          <p:cNvSpPr/>
          <p:nvPr/>
        </p:nvSpPr>
        <p:spPr>
          <a:xfrm>
            <a:off x="6480652" y="3200186"/>
            <a:ext cx="4644549" cy="0"/>
          </a:xfrm>
          <a:prstGeom prst="line">
            <a:avLst/>
          </a:prstGeom>
          <a:noFill/>
          <a:ln w="6350">
            <a:solidFill>
              <a:srgbClr val="2A2D52"/>
            </a:solidFill>
            <a:prstDash val="solid"/>
          </a:ln>
        </p:spPr>
      </p:sp>
      <p:sp>
        <p:nvSpPr>
          <p:cNvPr id="27" name="Text 25"/>
          <p:cNvSpPr/>
          <p:nvPr/>
        </p:nvSpPr>
        <p:spPr>
          <a:xfrm>
            <a:off x="6480652" y="3276600"/>
            <a:ext cx="1226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DD"/>
                </a:solidFill>
                <a:latin typeface="IBM Plex Sans" pitchFamily="34" charset="0"/>
                <a:ea typeface="IBM Plex Sans" pitchFamily="34" charset="-122"/>
                <a:cs typeface="IBM Plex Sans" pitchFamily="34" charset="-120"/>
              </a:rPr>
              <a:t>Debt minimums</a:t>
            </a:r>
            <a:endParaRPr lang="en-US" sz="1300" dirty="0"/>
          </a:p>
        </p:txBody>
      </p:sp>
      <p:sp>
        <p:nvSpPr>
          <p:cNvPr id="28" name="Text 26"/>
          <p:cNvSpPr/>
          <p:nvPr/>
        </p:nvSpPr>
        <p:spPr>
          <a:xfrm>
            <a:off x="10431622" y="3276600"/>
            <a:ext cx="7443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B"/>
                </a:solidFill>
                <a:latin typeface="Courier New" pitchFamily="34" charset="0"/>
                <a:ea typeface="Courier New" pitchFamily="34" charset="-122"/>
                <a:cs typeface="Courier New" pitchFamily="34" charset="-120"/>
              </a:rPr>
              <a:t>$489.54</a:t>
            </a:r>
            <a:endParaRPr lang="en-US" sz="1300" dirty="0"/>
          </a:p>
        </p:txBody>
      </p:sp>
      <p:sp>
        <p:nvSpPr>
          <p:cNvPr id="29" name="Shape 27"/>
          <p:cNvSpPr/>
          <p:nvPr/>
        </p:nvSpPr>
        <p:spPr>
          <a:xfrm>
            <a:off x="6480652" y="3587114"/>
            <a:ext cx="4644549" cy="0"/>
          </a:xfrm>
          <a:prstGeom prst="line">
            <a:avLst/>
          </a:prstGeom>
          <a:noFill/>
          <a:ln w="6350">
            <a:solidFill>
              <a:srgbClr val="2A2D52"/>
            </a:solidFill>
            <a:prstDash val="solid"/>
          </a:ln>
        </p:spPr>
      </p:sp>
      <p:sp>
        <p:nvSpPr>
          <p:cNvPr id="30" name="Text 28"/>
          <p:cNvSpPr/>
          <p:nvPr/>
        </p:nvSpPr>
        <p:spPr>
          <a:xfrm>
            <a:off x="6480652" y="3663525"/>
            <a:ext cx="64071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A0FF"/>
                </a:solidFill>
                <a:latin typeface="IBM Plex Sans" pitchFamily="34" charset="0"/>
                <a:ea typeface="IBM Plex Sans" pitchFamily="34" charset="-122"/>
                <a:cs typeface="IBM Plex Sans" pitchFamily="34" charset="-120"/>
              </a:rPr>
              <a:t>Surplus</a:t>
            </a:r>
            <a:endParaRPr lang="en-US" sz="1300" dirty="0"/>
          </a:p>
        </p:txBody>
      </p:sp>
      <p:sp>
        <p:nvSpPr>
          <p:cNvPr id="31" name="Text 29"/>
          <p:cNvSpPr/>
          <p:nvPr/>
        </p:nvSpPr>
        <p:spPr>
          <a:xfrm>
            <a:off x="10431622" y="3663525"/>
            <a:ext cx="74437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A0FF"/>
                </a:solidFill>
                <a:latin typeface="Courier New" pitchFamily="34" charset="0"/>
                <a:ea typeface="Courier New" pitchFamily="34" charset="-122"/>
                <a:cs typeface="Courier New" pitchFamily="34" charset="-120"/>
              </a:rPr>
              <a:t>$964.34</a:t>
            </a:r>
            <a:endParaRPr lang="en-US" sz="1300" dirty="0"/>
          </a:p>
        </p:txBody>
      </p:sp>
      <p:sp>
        <p:nvSpPr>
          <p:cNvPr id="32" name="Shape 30"/>
          <p:cNvSpPr/>
          <p:nvPr/>
        </p:nvSpPr>
        <p:spPr>
          <a:xfrm>
            <a:off x="6480652" y="3974040"/>
            <a:ext cx="4644549" cy="0"/>
          </a:xfrm>
          <a:prstGeom prst="line">
            <a:avLst/>
          </a:prstGeom>
          <a:noFill/>
          <a:ln w="6350">
            <a:solidFill>
              <a:srgbClr val="2A2D52"/>
            </a:solidFill>
            <a:prstDash val="solid"/>
          </a:ln>
        </p:spPr>
      </p:sp>
      <p:sp>
        <p:nvSpPr>
          <p:cNvPr id="33" name="Text 31"/>
          <p:cNvSpPr/>
          <p:nvPr/>
        </p:nvSpPr>
        <p:spPr>
          <a:xfrm>
            <a:off x="6480652" y="4050454"/>
            <a:ext cx="163131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BEDD"/>
                </a:solidFill>
                <a:latin typeface="IBM Plex Sans" pitchFamily="34" charset="0"/>
                <a:ea typeface="IBM Plex Sans" pitchFamily="34" charset="-122"/>
                <a:cs typeface="IBM Plex Sans" pitchFamily="34" charset="-120"/>
              </a:rPr>
              <a:t>Safe / month (× 0.75)</a:t>
            </a:r>
            <a:endParaRPr lang="en-US" sz="1300" dirty="0"/>
          </a:p>
        </p:txBody>
      </p:sp>
      <p:sp>
        <p:nvSpPr>
          <p:cNvPr id="34" name="Text 32"/>
          <p:cNvSpPr/>
          <p:nvPr/>
        </p:nvSpPr>
        <p:spPr>
          <a:xfrm>
            <a:off x="10431622" y="4050454"/>
            <a:ext cx="7443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B"/>
                </a:solidFill>
                <a:latin typeface="Courier New" pitchFamily="34" charset="0"/>
                <a:ea typeface="Courier New" pitchFamily="34" charset="-122"/>
                <a:cs typeface="Courier New" pitchFamily="34" charset="-120"/>
              </a:rPr>
              <a:t>$723.25</a:t>
            </a:r>
            <a:endParaRPr lang="en-US" sz="1300" dirty="0"/>
          </a:p>
        </p:txBody>
      </p:sp>
      <p:sp>
        <p:nvSpPr>
          <p:cNvPr id="35" name="Shape 33"/>
          <p:cNvSpPr/>
          <p:nvPr/>
        </p:nvSpPr>
        <p:spPr>
          <a:xfrm>
            <a:off x="6480652" y="4360968"/>
            <a:ext cx="4644549" cy="0"/>
          </a:xfrm>
          <a:prstGeom prst="line">
            <a:avLst/>
          </a:prstGeom>
          <a:noFill/>
          <a:ln w="6350">
            <a:solidFill>
              <a:srgbClr val="4356FF"/>
            </a:solidFill>
            <a:prstDash val="solid"/>
          </a:ln>
        </p:spPr>
      </p:sp>
      <p:sp>
        <p:nvSpPr>
          <p:cNvPr id="36" name="Text 34"/>
          <p:cNvSpPr/>
          <p:nvPr/>
        </p:nvSpPr>
        <p:spPr>
          <a:xfrm>
            <a:off x="6480652" y="4462779"/>
            <a:ext cx="27352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B"/>
                </a:solidFill>
                <a:latin typeface="IBM Plex Sans" pitchFamily="34" charset="0"/>
                <a:ea typeface="IBM Plex Sans" pitchFamily="34" charset="-122"/>
                <a:cs typeface="IBM Plex Sans" pitchFamily="34" charset="-120"/>
              </a:rPr>
              <a:t>÷ 4.33 paychecks = safe today</a:t>
            </a:r>
            <a:endParaRPr lang="en-US" sz="1500" dirty="0"/>
          </a:p>
        </p:txBody>
      </p:sp>
      <p:sp>
        <p:nvSpPr>
          <p:cNvPr id="37" name="Text 35"/>
          <p:cNvSpPr/>
          <p:nvPr/>
        </p:nvSpPr>
        <p:spPr>
          <a:xfrm>
            <a:off x="10324942" y="4462779"/>
            <a:ext cx="85105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7FB"/>
                </a:solidFill>
                <a:latin typeface="Courier New" pitchFamily="34" charset="0"/>
                <a:ea typeface="Courier New" pitchFamily="34" charset="-122"/>
                <a:cs typeface="Courier New" pitchFamily="34" charset="-120"/>
              </a:rPr>
              <a:t>$166.90</a:t>
            </a:r>
            <a:endParaRPr lang="en-US" sz="1500" dirty="0"/>
          </a:p>
        </p:txBody>
      </p:sp>
      <p:sp>
        <p:nvSpPr>
          <p:cNvPr id="38" name="Text 36"/>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9" name="Text 37"/>
          <p:cNvSpPr/>
          <p:nvPr/>
        </p:nvSpPr>
        <p:spPr>
          <a:xfrm>
            <a:off x="10058401"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THE ENGINE — APP/ENGINE.PY</a:t>
            </a:r>
            <a:endParaRPr lang="en-US" sz="1200" dirty="0"/>
          </a:p>
        </p:txBody>
      </p:sp>
      <p:sp>
        <p:nvSpPr>
          <p:cNvPr id="3" name="Text 1"/>
          <p:cNvSpPr/>
          <p:nvPr/>
        </p:nvSpPr>
        <p:spPr>
          <a:xfrm>
            <a:off x="812800" y="1127761"/>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Two more decisions, made in code</a:t>
            </a:r>
            <a:endParaRPr lang="en-US" sz="3200" dirty="0"/>
          </a:p>
        </p:txBody>
      </p:sp>
      <p:sp>
        <p:nvSpPr>
          <p:cNvPr id="4" name="Shape 2"/>
          <p:cNvSpPr/>
          <p:nvPr/>
        </p:nvSpPr>
        <p:spPr>
          <a:xfrm>
            <a:off x="815975" y="1806575"/>
            <a:ext cx="5149850" cy="4032250"/>
          </a:xfrm>
          <a:prstGeom prst="roundRect">
            <a:avLst>
              <a:gd name="adj" fmla="val 3071"/>
            </a:avLst>
          </a:prstGeom>
          <a:solidFill>
            <a:srgbClr val="FFFFFF"/>
          </a:solidFill>
          <a:ln w="6350">
            <a:solidFill>
              <a:srgbClr val="E4E7F2"/>
            </a:solidFill>
            <a:prstDash val="solid"/>
          </a:ln>
        </p:spPr>
      </p:sp>
      <p:sp>
        <p:nvSpPr>
          <p:cNvPr id="5" name="Text 3"/>
          <p:cNvSpPr/>
          <p:nvPr/>
        </p:nvSpPr>
        <p:spPr>
          <a:xfrm>
            <a:off x="1044787" y="2035386"/>
            <a:ext cx="48329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When Penny steps back</a:t>
            </a:r>
            <a:endParaRPr lang="en-US" sz="1600" dirty="0"/>
          </a:p>
        </p:txBody>
      </p:sp>
      <p:sp>
        <p:nvSpPr>
          <p:cNvPr id="6" name="Text 4"/>
          <p:cNvSpPr/>
          <p:nvPr/>
        </p:nvSpPr>
        <p:spPr>
          <a:xfrm>
            <a:off x="1044787" y="2393525"/>
            <a:ext cx="48329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handoff_needed() returns True, and the UI shows a counselor instead of a number, when any of:</a:t>
            </a:r>
            <a:endParaRPr lang="en-US" sz="1200" dirty="0"/>
          </a:p>
        </p:txBody>
      </p:sp>
      <p:sp>
        <p:nvSpPr>
          <p:cNvPr id="7" name="Shape 5"/>
          <p:cNvSpPr/>
          <p:nvPr/>
        </p:nvSpPr>
        <p:spPr>
          <a:xfrm>
            <a:off x="1044787" y="2934546"/>
            <a:ext cx="4692227" cy="450850"/>
          </a:xfrm>
          <a:prstGeom prst="roundRect">
            <a:avLst>
              <a:gd name="adj" fmla="val 16901"/>
            </a:avLst>
          </a:prstGeom>
          <a:solidFill>
            <a:srgbClr val="FFF4DC"/>
          </a:solidFill>
          <a:ln/>
        </p:spPr>
      </p:sp>
      <p:sp>
        <p:nvSpPr>
          <p:cNvPr id="8" name="Text 6"/>
          <p:cNvSpPr/>
          <p:nvPr/>
        </p:nvSpPr>
        <p:spPr>
          <a:xfrm>
            <a:off x="1184487" y="3048846"/>
            <a:ext cx="454521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7A5300"/>
                </a:solidFill>
                <a:latin typeface="IBM Plex Sans" pitchFamily="34" charset="0"/>
                <a:ea typeface="IBM Plex Sans" pitchFamily="34" charset="-122"/>
                <a:cs typeface="IBM Plex Sans" pitchFamily="34" charset="-120"/>
              </a:rPr>
              <a:t>Monthly surplus is negative</a:t>
            </a:r>
            <a:endParaRPr lang="en-US" sz="1250" dirty="0"/>
          </a:p>
        </p:txBody>
      </p:sp>
      <p:sp>
        <p:nvSpPr>
          <p:cNvPr id="9" name="Shape 7"/>
          <p:cNvSpPr/>
          <p:nvPr/>
        </p:nvSpPr>
        <p:spPr>
          <a:xfrm>
            <a:off x="1044787" y="3448896"/>
            <a:ext cx="4692227" cy="450850"/>
          </a:xfrm>
          <a:prstGeom prst="roundRect">
            <a:avLst>
              <a:gd name="adj" fmla="val 16901"/>
            </a:avLst>
          </a:prstGeom>
          <a:solidFill>
            <a:srgbClr val="FFF4DC"/>
          </a:solidFill>
          <a:ln/>
        </p:spPr>
      </p:sp>
      <p:sp>
        <p:nvSpPr>
          <p:cNvPr id="10" name="Text 8"/>
          <p:cNvSpPr/>
          <p:nvPr/>
        </p:nvSpPr>
        <p:spPr>
          <a:xfrm>
            <a:off x="1184487" y="3563196"/>
            <a:ext cx="454521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7A5300"/>
                </a:solidFill>
                <a:latin typeface="IBM Plex Sans" pitchFamily="34" charset="0"/>
                <a:ea typeface="IBM Plex Sans" pitchFamily="34" charset="-122"/>
                <a:cs typeface="IBM Plex Sans" pitchFamily="34" charset="-120"/>
              </a:rPr>
              <a:t>Debt minimums exceed monthly income</a:t>
            </a:r>
            <a:endParaRPr lang="en-US" sz="1250" dirty="0"/>
          </a:p>
        </p:txBody>
      </p:sp>
      <p:sp>
        <p:nvSpPr>
          <p:cNvPr id="11" name="Shape 9"/>
          <p:cNvSpPr/>
          <p:nvPr/>
        </p:nvSpPr>
        <p:spPr>
          <a:xfrm>
            <a:off x="1044787" y="3963246"/>
            <a:ext cx="4692227" cy="450850"/>
          </a:xfrm>
          <a:prstGeom prst="roundRect">
            <a:avLst>
              <a:gd name="adj" fmla="val 16901"/>
            </a:avLst>
          </a:prstGeom>
          <a:solidFill>
            <a:srgbClr val="FFF4DC"/>
          </a:solidFill>
          <a:ln/>
        </p:spPr>
      </p:sp>
      <p:sp>
        <p:nvSpPr>
          <p:cNvPr id="12" name="Text 10"/>
          <p:cNvSpPr/>
          <p:nvPr/>
        </p:nvSpPr>
        <p:spPr>
          <a:xfrm>
            <a:off x="1184487" y="4077546"/>
            <a:ext cx="454521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7A5300"/>
                </a:solidFill>
                <a:latin typeface="IBM Plex Sans" pitchFamily="34" charset="0"/>
                <a:ea typeface="IBM Plex Sans" pitchFamily="34" charset="-122"/>
                <a:cs typeface="IBM Plex Sans" pitchFamily="34" charset="-120"/>
              </a:rPr>
              <a:t>Any debt is 60+ days late</a:t>
            </a:r>
            <a:endParaRPr lang="en-US" sz="1250" dirty="0"/>
          </a:p>
        </p:txBody>
      </p:sp>
      <p:sp>
        <p:nvSpPr>
          <p:cNvPr id="13" name="Shape 11"/>
          <p:cNvSpPr/>
          <p:nvPr/>
        </p:nvSpPr>
        <p:spPr>
          <a:xfrm>
            <a:off x="1044787" y="4528396"/>
            <a:ext cx="4692227" cy="932180"/>
          </a:xfrm>
          <a:prstGeom prst="roundRect">
            <a:avLst>
              <a:gd name="adj" fmla="val 8174"/>
            </a:avLst>
          </a:prstGeom>
          <a:solidFill>
            <a:srgbClr val="F6F7FB"/>
          </a:solidFill>
          <a:ln/>
        </p:spPr>
      </p:sp>
      <p:sp>
        <p:nvSpPr>
          <p:cNvPr id="14" name="Text 12"/>
          <p:cNvSpPr/>
          <p:nvPr/>
        </p:nvSpPr>
        <p:spPr>
          <a:xfrm>
            <a:off x="1184487" y="4655396"/>
            <a:ext cx="4545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62B"/>
                </a:solidFill>
                <a:latin typeface="IBM Plex Sans" pitchFamily="34" charset="0"/>
                <a:ea typeface="IBM Plex Sans" pitchFamily="34" charset="-122"/>
                <a:cs typeface="IBM Plex Sans" pitchFamily="34" charset="-120"/>
              </a:rPr>
              <a:t>MBR-0081</a:t>
            </a:r>
            <a:r>
              <a:rPr lang="en-US" sz="1200" dirty="0">
                <a:solidFill>
                  <a:srgbClr val="14162B"/>
                </a:solidFill>
                <a:latin typeface="IBM Plex Sans" pitchFamily="34" charset="0"/>
                <a:ea typeface="IBM Plex Sans" pitchFamily="34" charset="-122"/>
                <a:cs typeface="IBM Plex Sans" pitchFamily="34" charset="-120"/>
              </a:rPr>
              <a:t> · biweekly, surplus -$576.01</a:t>
            </a:r>
            <a:endParaRPr lang="en-US" sz="1200" dirty="0"/>
          </a:p>
        </p:txBody>
      </p:sp>
      <p:sp>
        <p:nvSpPr>
          <p:cNvPr id="15" name="Text 13"/>
          <p:cNvSpPr/>
          <p:nvPr/>
        </p:nvSpPr>
        <p:spPr>
          <a:xfrm>
            <a:off x="1184487" y="4906857"/>
            <a:ext cx="454521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62B"/>
                </a:solidFill>
                <a:latin typeface="IBM Plex Sans" pitchFamily="34" charset="0"/>
                <a:ea typeface="IBM Plex Sans" pitchFamily="34" charset="-122"/>
                <a:cs typeface="IBM Plex Sans" pitchFamily="34" charset="-120"/>
              </a:rPr>
              <a:t>MBR-0062</a:t>
            </a:r>
            <a:r>
              <a:rPr lang="en-US" sz="1200" dirty="0">
                <a:solidFill>
                  <a:srgbClr val="14162B"/>
                </a:solidFill>
                <a:latin typeface="IBM Plex Sans" pitchFamily="34" charset="0"/>
                <a:ea typeface="IBM Plex Sans" pitchFamily="34" charset="-122"/>
                <a:cs typeface="IBM Plex Sans" pitchFamily="34" charset="-120"/>
              </a:rPr>
              <a:t> · income $2,406.33, minimums $1,301.30 plus spending exceed it</a:t>
            </a:r>
            <a:endParaRPr lang="en-US" sz="1200" dirty="0"/>
          </a:p>
        </p:txBody>
      </p:sp>
      <p:sp>
        <p:nvSpPr>
          <p:cNvPr id="16" name="Shape 14"/>
          <p:cNvSpPr/>
          <p:nvPr/>
        </p:nvSpPr>
        <p:spPr>
          <a:xfrm>
            <a:off x="6226175" y="1806575"/>
            <a:ext cx="5149850" cy="4032250"/>
          </a:xfrm>
          <a:prstGeom prst="roundRect">
            <a:avLst>
              <a:gd name="adj" fmla="val 3071"/>
            </a:avLst>
          </a:prstGeom>
          <a:solidFill>
            <a:srgbClr val="FFFFFF"/>
          </a:solidFill>
          <a:ln w="6350">
            <a:solidFill>
              <a:srgbClr val="E4E7F2"/>
            </a:solidFill>
            <a:prstDash val="solid"/>
          </a:ln>
        </p:spPr>
      </p:sp>
      <p:sp>
        <p:nvSpPr>
          <p:cNvPr id="17" name="Text 15"/>
          <p:cNvSpPr/>
          <p:nvPr/>
        </p:nvSpPr>
        <p:spPr>
          <a:xfrm>
            <a:off x="6454987" y="2035386"/>
            <a:ext cx="48329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62B"/>
                </a:solidFill>
                <a:latin typeface="Space Grotesk" pitchFamily="34" charset="0"/>
                <a:ea typeface="Space Grotesk" pitchFamily="34" charset="-122"/>
                <a:cs typeface="Space Grotesk" pitchFamily="34" charset="-120"/>
              </a:rPr>
              <a:t>The reason, picked by rule</a:t>
            </a:r>
            <a:endParaRPr lang="en-US" sz="1600" dirty="0"/>
          </a:p>
        </p:txBody>
      </p:sp>
      <p:sp>
        <p:nvSpPr>
          <p:cNvPr id="18" name="Text 16"/>
          <p:cNvSpPr/>
          <p:nvPr/>
        </p:nvSpPr>
        <p:spPr>
          <a:xfrm>
            <a:off x="6454987" y="2393525"/>
            <a:ext cx="48329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pick_reason() checks four conditions in order; first match wins:</a:t>
            </a:r>
            <a:endParaRPr lang="en-US" sz="1200" dirty="0"/>
          </a:p>
        </p:txBody>
      </p:sp>
      <p:sp>
        <p:nvSpPr>
          <p:cNvPr id="19" name="Shape 17"/>
          <p:cNvSpPr/>
          <p:nvPr/>
        </p:nvSpPr>
        <p:spPr>
          <a:xfrm>
            <a:off x="6454987" y="2721186"/>
            <a:ext cx="4692227" cy="416560"/>
          </a:xfrm>
          <a:prstGeom prst="roundRect">
            <a:avLst>
              <a:gd name="adj" fmla="val 18293"/>
            </a:avLst>
          </a:prstGeom>
          <a:solidFill>
            <a:srgbClr val="E8EBFF"/>
          </a:solidFill>
          <a:ln/>
        </p:spPr>
      </p:sp>
      <p:sp>
        <p:nvSpPr>
          <p:cNvPr id="20" name="Text 18"/>
          <p:cNvSpPr/>
          <p:nvPr/>
        </p:nvSpPr>
        <p:spPr>
          <a:xfrm>
            <a:off x="6594687" y="2822786"/>
            <a:ext cx="17155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You're close to your goal</a:t>
            </a:r>
            <a:endParaRPr lang="en-US" sz="1200" dirty="0"/>
          </a:p>
        </p:txBody>
      </p:sp>
      <p:sp>
        <p:nvSpPr>
          <p:cNvPr id="21" name="Text 19"/>
          <p:cNvSpPr/>
          <p:nvPr/>
        </p:nvSpPr>
        <p:spPr>
          <a:xfrm>
            <a:off x="9624484" y="2822786"/>
            <a:ext cx="1433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at least 75% funded</a:t>
            </a:r>
            <a:endParaRPr lang="en-US" sz="1200" dirty="0"/>
          </a:p>
        </p:txBody>
      </p:sp>
      <p:sp>
        <p:nvSpPr>
          <p:cNvPr id="22" name="Shape 20"/>
          <p:cNvSpPr/>
          <p:nvPr/>
        </p:nvSpPr>
        <p:spPr>
          <a:xfrm>
            <a:off x="6454987" y="3201246"/>
            <a:ext cx="4692227" cy="416560"/>
          </a:xfrm>
          <a:prstGeom prst="roundRect">
            <a:avLst>
              <a:gd name="adj" fmla="val 18293"/>
            </a:avLst>
          </a:prstGeom>
          <a:solidFill>
            <a:srgbClr val="E8EBFF"/>
          </a:solidFill>
          <a:ln/>
        </p:spPr>
      </p:sp>
      <p:sp>
        <p:nvSpPr>
          <p:cNvPr id="23" name="Text 21"/>
          <p:cNvSpPr/>
          <p:nvPr/>
        </p:nvSpPr>
        <p:spPr>
          <a:xfrm>
            <a:off x="6594687" y="3302846"/>
            <a:ext cx="21962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Spending was lower last month</a:t>
            </a:r>
            <a:endParaRPr lang="en-US" sz="1200" dirty="0"/>
          </a:p>
        </p:txBody>
      </p:sp>
      <p:sp>
        <p:nvSpPr>
          <p:cNvPr id="24" name="Text 22"/>
          <p:cNvSpPr/>
          <p:nvPr/>
        </p:nvSpPr>
        <p:spPr>
          <a:xfrm>
            <a:off x="9447054" y="3302846"/>
            <a:ext cx="16112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under 90% of prior avg</a:t>
            </a:r>
            <a:endParaRPr lang="en-US" sz="1200" dirty="0"/>
          </a:p>
        </p:txBody>
      </p:sp>
      <p:sp>
        <p:nvSpPr>
          <p:cNvPr id="25" name="Shape 23"/>
          <p:cNvSpPr/>
          <p:nvPr/>
        </p:nvSpPr>
        <p:spPr>
          <a:xfrm>
            <a:off x="6454987" y="3681307"/>
            <a:ext cx="4692227" cy="416560"/>
          </a:xfrm>
          <a:prstGeom prst="roundRect">
            <a:avLst>
              <a:gd name="adj" fmla="val 18293"/>
            </a:avLst>
          </a:prstGeom>
          <a:solidFill>
            <a:srgbClr val="E8EBFF"/>
          </a:solidFill>
          <a:ln/>
        </p:spPr>
      </p:sp>
      <p:sp>
        <p:nvSpPr>
          <p:cNvPr id="26" name="Text 24"/>
          <p:cNvSpPr/>
          <p:nvPr/>
        </p:nvSpPr>
        <p:spPr>
          <a:xfrm>
            <a:off x="6594687" y="3782907"/>
            <a:ext cx="14462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Pay has been steady</a:t>
            </a:r>
            <a:endParaRPr lang="en-US" sz="1200" dirty="0"/>
          </a:p>
        </p:txBody>
      </p:sp>
      <p:sp>
        <p:nvSpPr>
          <p:cNvPr id="27" name="Text 25"/>
          <p:cNvSpPr/>
          <p:nvPr/>
        </p:nvSpPr>
        <p:spPr>
          <a:xfrm>
            <a:off x="9637131" y="3782907"/>
            <a:ext cx="142118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within 10% of mean</a:t>
            </a:r>
            <a:endParaRPr lang="en-US" sz="1200" dirty="0"/>
          </a:p>
        </p:txBody>
      </p:sp>
      <p:sp>
        <p:nvSpPr>
          <p:cNvPr id="28" name="Shape 26"/>
          <p:cNvSpPr/>
          <p:nvPr/>
        </p:nvSpPr>
        <p:spPr>
          <a:xfrm>
            <a:off x="6454987" y="4161365"/>
            <a:ext cx="4692227" cy="416560"/>
          </a:xfrm>
          <a:prstGeom prst="roundRect">
            <a:avLst>
              <a:gd name="adj" fmla="val 18293"/>
            </a:avLst>
          </a:prstGeom>
          <a:solidFill>
            <a:srgbClr val="E8EBFF"/>
          </a:solidFill>
          <a:ln/>
        </p:spPr>
      </p:sp>
      <p:sp>
        <p:nvSpPr>
          <p:cNvPr id="29" name="Text 27"/>
          <p:cNvSpPr/>
          <p:nvPr/>
        </p:nvSpPr>
        <p:spPr>
          <a:xfrm>
            <a:off x="6594687" y="4262965"/>
            <a:ext cx="18251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Bills and debt are covered</a:t>
            </a:r>
            <a:endParaRPr lang="en-US" sz="1200" dirty="0"/>
          </a:p>
        </p:txBody>
      </p:sp>
      <p:sp>
        <p:nvSpPr>
          <p:cNvPr id="30" name="Text 28"/>
          <p:cNvSpPr/>
          <p:nvPr/>
        </p:nvSpPr>
        <p:spPr>
          <a:xfrm>
            <a:off x="10564231" y="4271857"/>
            <a:ext cx="494083"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A4694"/>
                </a:solidFill>
                <a:latin typeface="IBM Plex Sans" pitchFamily="34" charset="0"/>
                <a:ea typeface="IBM Plex Sans" pitchFamily="34" charset="-122"/>
                <a:cs typeface="IBM Plex Sans" pitchFamily="34" charset="-120"/>
              </a:rPr>
              <a:t>default</a:t>
            </a:r>
            <a:endParaRPr lang="en-US" sz="1100" dirty="0"/>
          </a:p>
        </p:txBody>
      </p:sp>
      <p:sp>
        <p:nvSpPr>
          <p:cNvPr id="31" name="Text 29"/>
          <p:cNvSpPr/>
          <p:nvPr/>
        </p:nvSpPr>
        <p:spPr>
          <a:xfrm>
            <a:off x="6454987" y="4692225"/>
            <a:ext cx="48329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Penny is handed the chosen reason as plain text. She must use it exactly, never invent her own.</a:t>
            </a:r>
            <a:endParaRPr lang="en-US" sz="1200" dirty="0"/>
          </a:p>
        </p:txBody>
      </p:sp>
      <p:sp>
        <p:nvSpPr>
          <p:cNvPr id="32" name="Text 30"/>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3" name="Text 31"/>
          <p:cNvSpPr/>
          <p:nvPr/>
        </p:nvSpPr>
        <p:spPr>
          <a:xfrm>
            <a:off x="10058401"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AI + SAFETY — EXPLAIN.PY &amp; VALIDATE.PY</a:t>
            </a:r>
            <a:endParaRPr lang="en-US" sz="1200" dirty="0"/>
          </a:p>
        </p:txBody>
      </p:sp>
      <p:sp>
        <p:nvSpPr>
          <p:cNvPr id="3" name="Text 1"/>
          <p:cNvSpPr/>
          <p:nvPr/>
        </p:nvSpPr>
        <p:spPr>
          <a:xfrm>
            <a:off x="812800" y="1127761"/>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162B"/>
                </a:solidFill>
                <a:latin typeface="Space Grotesk" pitchFamily="34" charset="0"/>
                <a:ea typeface="Space Grotesk" pitchFamily="34" charset="-122"/>
                <a:cs typeface="Space Grotesk" pitchFamily="34" charset="-120"/>
              </a:rPr>
              <a:t>Penny never calculates. The validator never trusts.</a:t>
            </a:r>
            <a:endParaRPr lang="en-US" sz="3000" dirty="0"/>
          </a:p>
        </p:txBody>
      </p:sp>
      <p:sp>
        <p:nvSpPr>
          <p:cNvPr id="4" name="Text 2"/>
          <p:cNvSpPr/>
          <p:nvPr/>
        </p:nvSpPr>
        <p:spPr>
          <a:xfrm>
            <a:off x="812800" y="1775461"/>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Only 4 numbers reach her</a:t>
            </a:r>
            <a:endParaRPr lang="en-US" sz="1500" dirty="0"/>
          </a:p>
        </p:txBody>
      </p:sp>
      <p:sp>
        <p:nvSpPr>
          <p:cNvPr id="5" name="Text 3"/>
          <p:cNvSpPr/>
          <p:nvPr/>
        </p:nvSpPr>
        <p:spPr>
          <a:xfrm>
            <a:off x="812800" y="2105661"/>
            <a:ext cx="53108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The recommendation message may only quote: the safe amount, the goal target, what's saved, and what's remaining. Not the surplus, not the buffer.</a:t>
            </a:r>
            <a:endParaRPr lang="en-US" sz="1200" dirty="0"/>
          </a:p>
        </p:txBody>
      </p:sp>
      <p:sp>
        <p:nvSpPr>
          <p:cNvPr id="6" name="Shape 4"/>
          <p:cNvSpPr/>
          <p:nvPr/>
        </p:nvSpPr>
        <p:spPr>
          <a:xfrm>
            <a:off x="812800" y="2633979"/>
            <a:ext cx="228600" cy="228600"/>
          </a:xfrm>
          <a:prstGeom prst="roundRect">
            <a:avLst>
              <a:gd name="adj" fmla="val 50000"/>
            </a:avLst>
          </a:prstGeom>
          <a:solidFill>
            <a:srgbClr val="E8EBFF"/>
          </a:solidFill>
          <a:ln/>
        </p:spPr>
      </p:sp>
      <p:sp>
        <p:nvSpPr>
          <p:cNvPr id="7" name="Text 5"/>
          <p:cNvSpPr/>
          <p:nvPr/>
        </p:nvSpPr>
        <p:spPr>
          <a:xfrm>
            <a:off x="881380" y="2641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IBM Plex Sans" pitchFamily="34" charset="0"/>
                <a:ea typeface="IBM Plex Sans" pitchFamily="34" charset="-122"/>
                <a:cs typeface="IBM Plex Sans" pitchFamily="34" charset="-120"/>
              </a:rPr>
              <a:t>1</a:t>
            </a:r>
            <a:endParaRPr lang="en-US" sz="1200" dirty="0"/>
          </a:p>
        </p:txBody>
      </p:sp>
      <p:sp>
        <p:nvSpPr>
          <p:cNvPr id="8" name="Text 6"/>
          <p:cNvSpPr/>
          <p:nvPr/>
        </p:nvSpPr>
        <p:spPr>
          <a:xfrm>
            <a:off x="1143000" y="2637154"/>
            <a:ext cx="2556736"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Facts dict, computed by the engine</a:t>
            </a:r>
            <a:endParaRPr lang="en-US" sz="1250" dirty="0"/>
          </a:p>
        </p:txBody>
      </p:sp>
      <p:sp>
        <p:nvSpPr>
          <p:cNvPr id="9" name="Shape 7"/>
          <p:cNvSpPr/>
          <p:nvPr/>
        </p:nvSpPr>
        <p:spPr>
          <a:xfrm>
            <a:off x="812800" y="2926079"/>
            <a:ext cx="228600" cy="228600"/>
          </a:xfrm>
          <a:prstGeom prst="roundRect">
            <a:avLst>
              <a:gd name="adj" fmla="val 50000"/>
            </a:avLst>
          </a:prstGeom>
          <a:solidFill>
            <a:srgbClr val="E8EBFF"/>
          </a:solidFill>
          <a:ln/>
        </p:spPr>
      </p:sp>
      <p:sp>
        <p:nvSpPr>
          <p:cNvPr id="10" name="Text 8"/>
          <p:cNvSpPr/>
          <p:nvPr/>
        </p:nvSpPr>
        <p:spPr>
          <a:xfrm>
            <a:off x="881380" y="29337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IBM Plex Sans" pitchFamily="34" charset="0"/>
                <a:ea typeface="IBM Plex Sans" pitchFamily="34" charset="-122"/>
                <a:cs typeface="IBM Plex Sans" pitchFamily="34" charset="-120"/>
              </a:rPr>
              <a:t>2</a:t>
            </a:r>
            <a:endParaRPr lang="en-US" sz="1200" dirty="0"/>
          </a:p>
        </p:txBody>
      </p:sp>
      <p:sp>
        <p:nvSpPr>
          <p:cNvPr id="11" name="Text 9"/>
          <p:cNvSpPr/>
          <p:nvPr/>
        </p:nvSpPr>
        <p:spPr>
          <a:xfrm>
            <a:off x="1143000" y="2929254"/>
            <a:ext cx="398899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Prompt shows only the allowed numbers, pre-rounded</a:t>
            </a:r>
            <a:endParaRPr lang="en-US" sz="1250" dirty="0"/>
          </a:p>
        </p:txBody>
      </p:sp>
      <p:sp>
        <p:nvSpPr>
          <p:cNvPr id="12" name="Shape 10"/>
          <p:cNvSpPr/>
          <p:nvPr/>
        </p:nvSpPr>
        <p:spPr>
          <a:xfrm>
            <a:off x="812800" y="3218179"/>
            <a:ext cx="228600" cy="228600"/>
          </a:xfrm>
          <a:prstGeom prst="roundRect">
            <a:avLst>
              <a:gd name="adj" fmla="val 50000"/>
            </a:avLst>
          </a:prstGeom>
          <a:solidFill>
            <a:srgbClr val="E8EBFF"/>
          </a:solidFill>
          <a:ln/>
        </p:spPr>
      </p:sp>
      <p:sp>
        <p:nvSpPr>
          <p:cNvPr id="13" name="Text 11"/>
          <p:cNvSpPr/>
          <p:nvPr/>
        </p:nvSpPr>
        <p:spPr>
          <a:xfrm>
            <a:off x="881380" y="32258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1143000" y="3221354"/>
            <a:ext cx="372999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Claude Haiku 4.5 writes a 2 to 3 sentence message</a:t>
            </a:r>
            <a:endParaRPr lang="en-US" sz="1250" dirty="0"/>
          </a:p>
        </p:txBody>
      </p:sp>
      <p:sp>
        <p:nvSpPr>
          <p:cNvPr id="15" name="Shape 13"/>
          <p:cNvSpPr/>
          <p:nvPr/>
        </p:nvSpPr>
        <p:spPr>
          <a:xfrm>
            <a:off x="812800" y="3510279"/>
            <a:ext cx="228600" cy="228600"/>
          </a:xfrm>
          <a:prstGeom prst="roundRect">
            <a:avLst>
              <a:gd name="adj" fmla="val 50000"/>
            </a:avLst>
          </a:prstGeom>
          <a:solidFill>
            <a:srgbClr val="E8EBFF"/>
          </a:solidFill>
          <a:ln/>
        </p:spPr>
      </p:sp>
      <p:sp>
        <p:nvSpPr>
          <p:cNvPr id="16" name="Text 14"/>
          <p:cNvSpPr/>
          <p:nvPr/>
        </p:nvSpPr>
        <p:spPr>
          <a:xfrm>
            <a:off x="881380" y="35179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6FF"/>
                </a:solidFill>
                <a:latin typeface="IBM Plex Sans" pitchFamily="34" charset="0"/>
                <a:ea typeface="IBM Plex Sans" pitchFamily="34" charset="-122"/>
                <a:cs typeface="IBM Plex Sans" pitchFamily="34" charset="-120"/>
              </a:rPr>
              <a:t>4</a:t>
            </a:r>
            <a:endParaRPr lang="en-US" sz="1200" dirty="0"/>
          </a:p>
        </p:txBody>
      </p:sp>
      <p:sp>
        <p:nvSpPr>
          <p:cNvPr id="17" name="Text 15"/>
          <p:cNvSpPr/>
          <p:nvPr/>
        </p:nvSpPr>
        <p:spPr>
          <a:xfrm>
            <a:off x="1143000" y="3513454"/>
            <a:ext cx="436567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Every dollar amount is matched back to a fact, within 1 cent</a:t>
            </a:r>
            <a:endParaRPr lang="en-US" sz="1250" dirty="0"/>
          </a:p>
        </p:txBody>
      </p:sp>
      <p:sp>
        <p:nvSpPr>
          <p:cNvPr id="18" name="Text 16"/>
          <p:cNvSpPr/>
          <p:nvPr/>
        </p:nvSpPr>
        <p:spPr>
          <a:xfrm>
            <a:off x="6223000" y="1775461"/>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The corrupt-a-number demo</a:t>
            </a:r>
            <a:endParaRPr lang="en-US" sz="1500" dirty="0"/>
          </a:p>
        </p:txBody>
      </p:sp>
      <p:sp>
        <p:nvSpPr>
          <p:cNvPr id="19" name="Text 17"/>
          <p:cNvSpPr/>
          <p:nvPr/>
        </p:nvSpPr>
        <p:spPr>
          <a:xfrm>
            <a:off x="6223000" y="2105661"/>
            <a:ext cx="53108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A toggle in the presenter panel alters one number in Penny's real answer, live, so the block is never staged.</a:t>
            </a:r>
            <a:endParaRPr lang="en-US" sz="1200" dirty="0"/>
          </a:p>
        </p:txBody>
      </p:sp>
      <p:sp>
        <p:nvSpPr>
          <p:cNvPr id="20" name="Shape 18"/>
          <p:cNvSpPr/>
          <p:nvPr/>
        </p:nvSpPr>
        <p:spPr>
          <a:xfrm>
            <a:off x="6226175" y="2637154"/>
            <a:ext cx="5149850" cy="1775037"/>
          </a:xfrm>
          <a:prstGeom prst="roundRect">
            <a:avLst>
              <a:gd name="adj" fmla="val 5545"/>
            </a:avLst>
          </a:prstGeom>
          <a:solidFill>
            <a:srgbClr val="FFFFFF"/>
          </a:solidFill>
          <a:ln w="6350">
            <a:solidFill>
              <a:srgbClr val="E4E7F2"/>
            </a:solidFill>
            <a:prstDash val="solid"/>
          </a:ln>
        </p:spPr>
      </p:sp>
      <p:sp>
        <p:nvSpPr>
          <p:cNvPr id="21" name="Text 19"/>
          <p:cNvSpPr/>
          <p:nvPr/>
        </p:nvSpPr>
        <p:spPr>
          <a:xfrm>
            <a:off x="6404187" y="2815168"/>
            <a:ext cx="4937642" cy="247650"/>
          </a:xfrm>
          <a:prstGeom prst="rect">
            <a:avLst/>
          </a:prstGeom>
          <a:noFill/>
          <a:ln/>
        </p:spPr>
        <p:txBody>
          <a:bodyPr wrap="square" lIns="0" tIns="0" rIns="0" bIns="0" rtlCol="0" anchor="t">
            <a:normAutofit/>
          </a:bodyPr>
          <a:lstStyle/>
          <a:p>
            <a:pPr algn="l" indent="0" marL="0">
              <a:lnSpc>
                <a:spcPts val="1750"/>
              </a:lnSpc>
              <a:buNone/>
            </a:pPr>
            <a:r>
              <a:rPr lang="en-US" sz="1250" strike="sngStrike" dirty="0">
                <a:solidFill>
                  <a:srgbClr val="5B6178"/>
                </a:solidFill>
                <a:latin typeface="IBM Plex Sans" pitchFamily="34" charset="0"/>
                <a:ea typeface="IBM Plex Sans" pitchFamily="34" charset="-122"/>
                <a:cs typeface="IBM Plex Sans" pitchFamily="34" charset="-120"/>
              </a:rPr>
              <a:t>"You can safely move </a:t>
            </a:r>
            <a:r>
              <a:rPr lang="en-US" sz="1250" b="1" strike="sngStrike" dirty="0">
                <a:solidFill>
                  <a:srgbClr val="B3261E"/>
                </a:solidFill>
                <a:latin typeface="IBM Plex Sans" pitchFamily="34" charset="0"/>
                <a:ea typeface="IBM Plex Sans" pitchFamily="34" charset="-122"/>
                <a:cs typeface="IBM Plex Sans" pitchFamily="34" charset="-120"/>
              </a:rPr>
              <a:t>$176.90</a:t>
            </a:r>
            <a:r>
              <a:rPr lang="en-US" sz="1250" strike="sngStrike" dirty="0">
                <a:solidFill>
                  <a:srgbClr val="5B6178"/>
                </a:solidFill>
                <a:latin typeface="IBM Plex Sans" pitchFamily="34" charset="0"/>
                <a:ea typeface="IBM Plex Sans" pitchFamily="34" charset="-122"/>
                <a:cs typeface="IBM Plex Sans" pitchFamily="34" charset="-120"/>
              </a:rPr>
              <a:t> to your Home Down Payment..."</a:t>
            </a:r>
            <a:endParaRPr lang="en-US" sz="1250" dirty="0"/>
          </a:p>
        </p:txBody>
      </p:sp>
      <p:sp>
        <p:nvSpPr>
          <p:cNvPr id="22" name="Shape 20"/>
          <p:cNvSpPr/>
          <p:nvPr/>
        </p:nvSpPr>
        <p:spPr>
          <a:xfrm>
            <a:off x="6404187" y="3126318"/>
            <a:ext cx="763958" cy="306070"/>
          </a:xfrm>
          <a:prstGeom prst="roundRect">
            <a:avLst>
              <a:gd name="adj" fmla="val 50000"/>
            </a:avLst>
          </a:prstGeom>
          <a:solidFill>
            <a:srgbClr val="FBE9E7"/>
          </a:solidFill>
          <a:ln/>
        </p:spPr>
      </p:sp>
      <p:sp>
        <p:nvSpPr>
          <p:cNvPr id="23" name="Text 21"/>
          <p:cNvSpPr/>
          <p:nvPr/>
        </p:nvSpPr>
        <p:spPr>
          <a:xfrm>
            <a:off x="6518487" y="3177118"/>
            <a:ext cx="586158"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B3261E"/>
                </a:solidFill>
                <a:latin typeface="IBM Plex Sans" pitchFamily="34" charset="0"/>
                <a:ea typeface="IBM Plex Sans" pitchFamily="34" charset="-122"/>
                <a:cs typeface="IBM Plex Sans" pitchFamily="34" charset="-120"/>
              </a:rPr>
              <a:t>blocked</a:t>
            </a:r>
            <a:endParaRPr lang="en-US" sz="1150" dirty="0"/>
          </a:p>
        </p:txBody>
      </p:sp>
      <p:sp>
        <p:nvSpPr>
          <p:cNvPr id="24" name="Text 22"/>
          <p:cNvSpPr/>
          <p:nvPr/>
        </p:nvSpPr>
        <p:spPr>
          <a:xfrm>
            <a:off x="7244345" y="3177118"/>
            <a:ext cx="1697937"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$176.90 matches no fact</a:t>
            </a:r>
            <a:endParaRPr lang="en-US" sz="1150" dirty="0"/>
          </a:p>
        </p:txBody>
      </p:sp>
      <p:pic>
        <p:nvPicPr>
          <p:cNvPr id="25" name="Image 0" descr="line">    </p:cNvPr>
          <p:cNvPicPr>
            <a:picLocks noChangeAspect="1"/>
          </p:cNvPicPr>
          <p:nvPr/>
        </p:nvPicPr>
        <p:blipFill>
          <a:blip r:embed="rId1"/>
          <a:srcRect l="0" r="0" t="-3339" b="-3339"/>
          <a:stretch/>
        </p:blipFill>
        <p:spPr>
          <a:xfrm>
            <a:off x="6404187" y="3521286"/>
            <a:ext cx="4793827" cy="6773"/>
          </a:xfrm>
          <a:prstGeom prst="rect">
            <a:avLst/>
          </a:prstGeom>
        </p:spPr>
      </p:pic>
      <p:sp>
        <p:nvSpPr>
          <p:cNvPr id="26" name="Text 23"/>
          <p:cNvSpPr/>
          <p:nvPr/>
        </p:nvSpPr>
        <p:spPr>
          <a:xfrm>
            <a:off x="6404187" y="3616961"/>
            <a:ext cx="493764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"You can safely move </a:t>
            </a:r>
            <a:r>
              <a:rPr lang="en-US" sz="1250" b="1" dirty="0">
                <a:solidFill>
                  <a:srgbClr val="2F855A"/>
                </a:solidFill>
                <a:latin typeface="IBM Plex Sans" pitchFamily="34" charset="0"/>
                <a:ea typeface="IBM Plex Sans" pitchFamily="34" charset="-122"/>
                <a:cs typeface="IBM Plex Sans" pitchFamily="34" charset="-120"/>
              </a:rPr>
              <a:t>$166.90</a:t>
            </a:r>
            <a:r>
              <a:rPr lang="en-US" sz="1250" dirty="0">
                <a:solidFill>
                  <a:srgbClr val="14162B"/>
                </a:solidFill>
                <a:latin typeface="IBM Plex Sans" pitchFamily="34" charset="0"/>
                <a:ea typeface="IBM Plex Sans" pitchFamily="34" charset="-122"/>
                <a:cs typeface="IBM Plex Sans" pitchFamily="34" charset="-120"/>
              </a:rPr>
              <a:t> to your Home Down Payment..."</a:t>
            </a:r>
            <a:endParaRPr lang="en-US" sz="1250" dirty="0"/>
          </a:p>
        </p:txBody>
      </p:sp>
      <p:sp>
        <p:nvSpPr>
          <p:cNvPr id="27" name="Shape 24"/>
          <p:cNvSpPr/>
          <p:nvPr/>
        </p:nvSpPr>
        <p:spPr>
          <a:xfrm>
            <a:off x="6404187" y="3928111"/>
            <a:ext cx="711729" cy="306070"/>
          </a:xfrm>
          <a:prstGeom prst="roundRect">
            <a:avLst>
              <a:gd name="adj" fmla="val 50000"/>
            </a:avLst>
          </a:prstGeom>
          <a:solidFill>
            <a:srgbClr val="E4F3EA"/>
          </a:solidFill>
          <a:ln/>
        </p:spPr>
      </p:sp>
      <p:sp>
        <p:nvSpPr>
          <p:cNvPr id="28" name="Text 25"/>
          <p:cNvSpPr/>
          <p:nvPr/>
        </p:nvSpPr>
        <p:spPr>
          <a:xfrm>
            <a:off x="6518487" y="3978911"/>
            <a:ext cx="533929"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2F855A"/>
                </a:solidFill>
                <a:latin typeface="IBM Plex Sans" pitchFamily="34" charset="0"/>
                <a:ea typeface="IBM Plex Sans" pitchFamily="34" charset="-122"/>
                <a:cs typeface="IBM Plex Sans" pitchFamily="34" charset="-120"/>
              </a:rPr>
              <a:t>passed</a:t>
            </a:r>
            <a:endParaRPr lang="en-US" sz="1150" dirty="0"/>
          </a:p>
        </p:txBody>
      </p:sp>
      <p:sp>
        <p:nvSpPr>
          <p:cNvPr id="29" name="Text 26"/>
          <p:cNvSpPr/>
          <p:nvPr/>
        </p:nvSpPr>
        <p:spPr>
          <a:xfrm>
            <a:off x="7192116" y="3978911"/>
            <a:ext cx="2416442"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shown, with an "AI, checked" badge</a:t>
            </a:r>
            <a:endParaRPr lang="en-US" sz="1150" dirty="0"/>
          </a:p>
        </p:txBody>
      </p:sp>
      <p:sp>
        <p:nvSpPr>
          <p:cNvPr id="30" name="Shape 27"/>
          <p:cNvSpPr/>
          <p:nvPr/>
        </p:nvSpPr>
        <p:spPr>
          <a:xfrm>
            <a:off x="812800" y="4988561"/>
            <a:ext cx="10566401" cy="853440"/>
          </a:xfrm>
          <a:prstGeom prst="roundRect">
            <a:avLst>
              <a:gd name="adj" fmla="val 11905"/>
            </a:avLst>
          </a:prstGeom>
          <a:solidFill>
            <a:srgbClr val="14162B"/>
          </a:solidFill>
          <a:ln/>
        </p:spPr>
      </p:sp>
      <p:sp>
        <p:nvSpPr>
          <p:cNvPr id="31" name="Text 28"/>
          <p:cNvSpPr/>
          <p:nvPr/>
        </p:nvSpPr>
        <p:spPr>
          <a:xfrm>
            <a:off x="1041400" y="5166361"/>
            <a:ext cx="186191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A0FF"/>
                </a:solidFill>
                <a:latin typeface="Space Grotesk" pitchFamily="34" charset="0"/>
                <a:ea typeface="Space Grotesk" pitchFamily="34" charset="-122"/>
                <a:cs typeface="Space Grotesk" pitchFamily="34" charset="-120"/>
              </a:rPr>
              <a:t>Every failure has a floor</a:t>
            </a:r>
            <a:endParaRPr lang="en-US" sz="1400" dirty="0"/>
          </a:p>
        </p:txBody>
      </p:sp>
      <p:sp>
        <p:nvSpPr>
          <p:cNvPr id="32" name="Text 29"/>
          <p:cNvSpPr/>
          <p:nvPr/>
        </p:nvSpPr>
        <p:spPr>
          <a:xfrm>
            <a:off x="2976086" y="5184139"/>
            <a:ext cx="84197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7FB"/>
                </a:solidFill>
                <a:latin typeface="IBM Plex Sans" pitchFamily="34" charset="0"/>
                <a:ea typeface="IBM Plex Sans" pitchFamily="34" charset="-122"/>
                <a:cs typeface="IBM Plex Sans" pitchFamily="34" charset="-120"/>
              </a:rPr>
              <a:t>API down, refused, or blocked: same behavior. A templated message built straight from the facts, labeled "offline template."</a:t>
            </a:r>
            <a:endParaRPr lang="en-US" sz="1300" dirty="0"/>
          </a:p>
        </p:txBody>
      </p:sp>
      <p:sp>
        <p:nvSpPr>
          <p:cNvPr id="33" name="Text 30"/>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4" name="Text 31"/>
          <p:cNvSpPr/>
          <p:nvPr/>
        </p:nvSpPr>
        <p:spPr>
          <a:xfrm>
            <a:off x="10058401"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TIER 2 — REPLAY &amp; CHECK-INS</a:t>
            </a:r>
            <a:endParaRPr lang="en-US" sz="1200" dirty="0"/>
          </a:p>
        </p:txBody>
      </p:sp>
      <p:sp>
        <p:nvSpPr>
          <p:cNvPr id="3" name="Text 1"/>
          <p:cNvSpPr/>
          <p:nvPr/>
        </p:nvSpPr>
        <p:spPr>
          <a:xfrm>
            <a:off x="812800" y="1127764"/>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This is what makes it Direction 4</a:t>
            </a:r>
            <a:endParaRPr lang="en-US" sz="3200" dirty="0"/>
          </a:p>
        </p:txBody>
      </p:sp>
      <p:sp>
        <p:nvSpPr>
          <p:cNvPr id="4" name="Text 2"/>
          <p:cNvSpPr/>
          <p:nvPr/>
        </p:nvSpPr>
        <p:spPr>
          <a:xfrm>
            <a:off x="812800" y="1803400"/>
            <a:ext cx="53108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178"/>
                </a:solidFill>
                <a:latin typeface="IBM Plex Sans" pitchFamily="34" charset="0"/>
                <a:ea typeface="IBM Plex Sans" pitchFamily="34" charset="-122"/>
                <a:cs typeface="IBM Plex Sans" pitchFamily="34" charset="-120"/>
              </a:rPr>
              <a:t>Replay starts 2026-06-01. "Advance to next payday" moves as_of to the member's real next income transaction, recomputes, and settles what actually happened:</a:t>
            </a:r>
            <a:endParaRPr lang="en-US" sz="1300" dirty="0"/>
          </a:p>
        </p:txBody>
      </p:sp>
      <p:sp>
        <p:nvSpPr>
          <p:cNvPr id="5" name="Shape 3"/>
          <p:cNvSpPr/>
          <p:nvPr/>
        </p:nvSpPr>
        <p:spPr>
          <a:xfrm>
            <a:off x="812800" y="2598421"/>
            <a:ext cx="5156200" cy="542925"/>
          </a:xfrm>
          <a:prstGeom prst="roundRect">
            <a:avLst>
              <a:gd name="adj" fmla="val 18713"/>
            </a:avLst>
          </a:prstGeom>
          <a:solidFill>
            <a:srgbClr val="14162B"/>
          </a:solidFill>
          <a:ln/>
        </p:spPr>
      </p:sp>
      <p:sp>
        <p:nvSpPr>
          <p:cNvPr id="6" name="Text 4"/>
          <p:cNvSpPr/>
          <p:nvPr/>
        </p:nvSpPr>
        <p:spPr>
          <a:xfrm>
            <a:off x="990600" y="2750821"/>
            <a:ext cx="4944618" cy="26352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F6F7FB"/>
                </a:solidFill>
                <a:latin typeface="Courier New" pitchFamily="34" charset="0"/>
                <a:ea typeface="Courier New" pitchFamily="34" charset="-122"/>
                <a:cs typeface="Courier New" pitchFamily="34" charset="-120"/>
              </a:rPr>
              <a:t>saved = min(planned, max(0, net cash flow))</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3253106"/>
          <a:ext cx="5146040" cy="1584325"/>
        </p:xfrm>
        <a:graphic>
          <a:graphicData uri="http://schemas.openxmlformats.org/drawingml/2006/table">
            <a:tbl>
              <a:tblPr/>
              <a:tblGrid>
                <a:gridCol w="1235050"/>
                <a:gridCol w="3910991"/>
              </a:tblGrid>
              <a:tr h="316865">
                <a:tc>
                  <a:txBody>
                    <a:bodyPr/>
                    <a:lstStyle/>
                    <a:p>
                      <a:pPr indent="0" marL="0">
                        <a:lnSpc>
                          <a:spcPts val="1610"/>
                        </a:lnSpc>
                        <a:buNone/>
                      </a:pPr>
                      <a:r>
                        <a:rPr lang="en-US" sz="1150" b="1" dirty="0">
                          <a:solidFill>
                            <a:srgbClr val="F6F7FB"/>
                          </a:solidFill>
                          <a:latin typeface="IBM Plex Sans" pitchFamily="34" charset="0"/>
                          <a:ea typeface="IBM Plex Sans" pitchFamily="34" charset="-122"/>
                          <a:cs typeface="IBM Plex Sans" pitchFamily="34" charset="-120"/>
                        </a:rPr>
                        <a:t>Outcome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c>
                  <a:txBody>
                    <a:bodyPr/>
                    <a:lstStyle/>
                    <a:p>
                      <a:pPr indent="0" marL="0">
                        <a:lnSpc>
                          <a:spcPts val="1610"/>
                        </a:lnSpc>
                        <a:buNone/>
                      </a:pPr>
                      <a:r>
                        <a:rPr lang="en-US" sz="1150" b="1" dirty="0">
                          <a:solidFill>
                            <a:srgbClr val="F6F7FB"/>
                          </a:solidFill>
                          <a:latin typeface="IBM Plex Sans" pitchFamily="34" charset="0"/>
                          <a:ea typeface="IBM Plex Sans" pitchFamily="34" charset="-122"/>
                          <a:cs typeface="IBM Plex Sans" pitchFamily="34" charset="-120"/>
                        </a:rPr>
                        <a:t>Penny's move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141626"/>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Full</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Celebrate briefly</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Partial</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Names the amount saved as a real win</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None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No guilt, offers a smaller amount next time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Skipped</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Offers the full amount again, fresh start</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6223000" y="1803400"/>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MBR-0026, two real paydays</a:t>
            </a:r>
            <a:endParaRPr lang="en-US" sz="1500" dirty="0"/>
          </a:p>
        </p:txBody>
      </p:sp>
      <p:sp>
        <p:nvSpPr>
          <p:cNvPr id="9" name="Shape 6"/>
          <p:cNvSpPr/>
          <p:nvPr/>
        </p:nvSpPr>
        <p:spPr>
          <a:xfrm>
            <a:off x="6226175" y="2136775"/>
            <a:ext cx="5149850" cy="3027257"/>
          </a:xfrm>
          <a:prstGeom prst="roundRect">
            <a:avLst>
              <a:gd name="adj" fmla="val 3251"/>
            </a:avLst>
          </a:prstGeom>
          <a:solidFill>
            <a:srgbClr val="FFFFFF"/>
          </a:solidFill>
          <a:ln w="6350">
            <a:solidFill>
              <a:srgbClr val="E4E7F2"/>
            </a:solidFill>
            <a:prstDash val="solid"/>
          </a:ln>
        </p:spPr>
      </p:sp>
      <p:sp>
        <p:nvSpPr>
          <p:cNvPr id="10" name="Text 7"/>
          <p:cNvSpPr/>
          <p:nvPr/>
        </p:nvSpPr>
        <p:spPr>
          <a:xfrm>
            <a:off x="6404187" y="2314792"/>
            <a:ext cx="49376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Jun 5 to Jun 12, net cash flow -$862.28</a:t>
            </a:r>
            <a:endParaRPr lang="en-US" sz="1200" dirty="0"/>
          </a:p>
        </p:txBody>
      </p:sp>
      <p:sp>
        <p:nvSpPr>
          <p:cNvPr id="11" name="Shape 8"/>
          <p:cNvSpPr/>
          <p:nvPr/>
        </p:nvSpPr>
        <p:spPr>
          <a:xfrm>
            <a:off x="6404187" y="2617050"/>
            <a:ext cx="4793827" cy="425450"/>
          </a:xfrm>
          <a:prstGeom prst="roundRect">
            <a:avLst>
              <a:gd name="adj" fmla="val 17910"/>
            </a:avLst>
          </a:prstGeom>
          <a:solidFill>
            <a:srgbClr val="FFF4DC"/>
          </a:solidFill>
          <a:ln/>
        </p:spPr>
      </p:sp>
      <p:sp>
        <p:nvSpPr>
          <p:cNvPr id="12" name="Text 9"/>
          <p:cNvSpPr/>
          <p:nvPr/>
        </p:nvSpPr>
        <p:spPr>
          <a:xfrm>
            <a:off x="6543887" y="2718650"/>
            <a:ext cx="226001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7A5300"/>
                </a:solidFill>
                <a:latin typeface="IBM Plex Sans" pitchFamily="34" charset="0"/>
                <a:ea typeface="IBM Plex Sans" pitchFamily="34" charset="-122"/>
                <a:cs typeface="IBM Plex Sans" pitchFamily="34" charset="-120"/>
              </a:rPr>
              <a:t>Planned $153.18, saved $0.00</a:t>
            </a:r>
            <a:endParaRPr lang="en-US" sz="1250" dirty="0"/>
          </a:p>
        </p:txBody>
      </p:sp>
      <p:sp>
        <p:nvSpPr>
          <p:cNvPr id="13" name="Text 10"/>
          <p:cNvSpPr/>
          <p:nvPr/>
        </p:nvSpPr>
        <p:spPr>
          <a:xfrm>
            <a:off x="10708217" y="2723096"/>
            <a:ext cx="40089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none</a:t>
            </a:r>
            <a:endParaRPr lang="en-US" sz="1200" dirty="0"/>
          </a:p>
        </p:txBody>
      </p:sp>
      <p:sp>
        <p:nvSpPr>
          <p:cNvPr id="14" name="Text 11"/>
          <p:cNvSpPr/>
          <p:nvPr/>
        </p:nvSpPr>
        <p:spPr>
          <a:xfrm>
            <a:off x="6404187" y="3131400"/>
            <a:ext cx="49376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"Nothing moved this time, and that's okay. Next payday, let's try $76.59 instead."</a:t>
            </a:r>
            <a:endParaRPr lang="en-US" sz="1200" dirty="0"/>
          </a:p>
        </p:txBody>
      </p:sp>
      <p:pic>
        <p:nvPicPr>
          <p:cNvPr id="15" name="Image 0" descr="line">    </p:cNvPr>
          <p:cNvPicPr>
            <a:picLocks noChangeAspect="1"/>
          </p:cNvPicPr>
          <p:nvPr/>
        </p:nvPicPr>
        <p:blipFill>
          <a:blip r:embed="rId1"/>
          <a:srcRect l="0" r="0" t="-3339" b="-3339"/>
          <a:stretch/>
        </p:blipFill>
        <p:spPr>
          <a:xfrm>
            <a:off x="6404187" y="3647021"/>
            <a:ext cx="4793827" cy="6773"/>
          </a:xfrm>
          <a:prstGeom prst="rect">
            <a:avLst/>
          </a:prstGeom>
        </p:spPr>
      </p:pic>
      <p:sp>
        <p:nvSpPr>
          <p:cNvPr id="16" name="Text 12"/>
          <p:cNvSpPr/>
          <p:nvPr/>
        </p:nvSpPr>
        <p:spPr>
          <a:xfrm>
            <a:off x="6404187" y="3742692"/>
            <a:ext cx="49376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Jun 12 to Jun 19, net cash flow $17.40</a:t>
            </a:r>
            <a:endParaRPr lang="en-US" sz="1200" dirty="0"/>
          </a:p>
        </p:txBody>
      </p:sp>
      <p:sp>
        <p:nvSpPr>
          <p:cNvPr id="17" name="Shape 13"/>
          <p:cNvSpPr/>
          <p:nvPr/>
        </p:nvSpPr>
        <p:spPr>
          <a:xfrm>
            <a:off x="6404187" y="4044950"/>
            <a:ext cx="4793827" cy="425450"/>
          </a:xfrm>
          <a:prstGeom prst="roundRect">
            <a:avLst>
              <a:gd name="adj" fmla="val 17910"/>
            </a:avLst>
          </a:prstGeom>
          <a:solidFill>
            <a:srgbClr val="E4F3EA"/>
          </a:solidFill>
          <a:ln/>
        </p:spPr>
      </p:sp>
      <p:sp>
        <p:nvSpPr>
          <p:cNvPr id="18" name="Text 14"/>
          <p:cNvSpPr/>
          <p:nvPr/>
        </p:nvSpPr>
        <p:spPr>
          <a:xfrm>
            <a:off x="6543887" y="4146550"/>
            <a:ext cx="2260015"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2F855A"/>
                </a:solidFill>
                <a:latin typeface="IBM Plex Sans" pitchFamily="34" charset="0"/>
                <a:ea typeface="IBM Plex Sans" pitchFamily="34" charset="-122"/>
                <a:cs typeface="IBM Plex Sans" pitchFamily="34" charset="-120"/>
              </a:rPr>
              <a:t>Planned $76.59, saved $17.40</a:t>
            </a:r>
            <a:endParaRPr lang="en-US" sz="1250" dirty="0"/>
          </a:p>
        </p:txBody>
      </p:sp>
      <p:sp>
        <p:nvSpPr>
          <p:cNvPr id="19" name="Text 15"/>
          <p:cNvSpPr/>
          <p:nvPr/>
        </p:nvSpPr>
        <p:spPr>
          <a:xfrm>
            <a:off x="10592224" y="4150996"/>
            <a:ext cx="51689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855A"/>
                </a:solidFill>
                <a:latin typeface="IBM Plex Sans" pitchFamily="34" charset="0"/>
                <a:ea typeface="IBM Plex Sans" pitchFamily="34" charset="-122"/>
                <a:cs typeface="IBM Plex Sans" pitchFamily="34" charset="-120"/>
              </a:rPr>
              <a:t>partial</a:t>
            </a:r>
            <a:endParaRPr lang="en-US" sz="1200" dirty="0"/>
          </a:p>
        </p:txBody>
      </p:sp>
      <p:sp>
        <p:nvSpPr>
          <p:cNvPr id="20" name="Text 16"/>
          <p:cNvSpPr/>
          <p:nvPr/>
        </p:nvSpPr>
        <p:spPr>
          <a:xfrm>
            <a:off x="6404187" y="4559300"/>
            <a:ext cx="49376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"You moved $17.40 toward your goal this time. That's a real win, and every bit counts."</a:t>
            </a:r>
            <a:endParaRPr lang="en-US" sz="1200" dirty="0"/>
          </a:p>
        </p:txBody>
      </p:sp>
      <p:sp>
        <p:nvSpPr>
          <p:cNvPr id="21" name="Text 17"/>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22" name="Text 18"/>
          <p:cNvSpPr/>
          <p:nvPr/>
        </p:nvSpPr>
        <p:spPr>
          <a:xfrm>
            <a:off x="10058401"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TIER 3 — FOUND MONEY</a:t>
            </a:r>
            <a:endParaRPr lang="en-US" sz="1200" dirty="0"/>
          </a:p>
        </p:txBody>
      </p:sp>
      <p:sp>
        <p:nvSpPr>
          <p:cNvPr id="3" name="Text 1"/>
          <p:cNvSpPr/>
          <p:nvPr/>
        </p:nvSpPr>
        <p:spPr>
          <a:xfrm>
            <a:off x="812800" y="112775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Fees and overlaps, never a scolding</a:t>
            </a:r>
            <a:endParaRPr lang="en-US" sz="3200" dirty="0"/>
          </a:p>
        </p:txBody>
      </p:sp>
      <p:sp>
        <p:nvSpPr>
          <p:cNvPr id="4" name="Text 2"/>
          <p:cNvSpPr/>
          <p:nvPr/>
        </p:nvSpPr>
        <p:spPr>
          <a:xfrm>
            <a:off x="812800" y="1803400"/>
            <a:ext cx="531088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178"/>
                </a:solidFill>
                <a:latin typeface="IBM Plex Sans" pitchFamily="34" charset="0"/>
                <a:ea typeface="IBM Plex Sans" pitchFamily="34" charset="-122"/>
                <a:cs typeface="IBM Plex Sans" pitchFamily="34" charset="-120"/>
              </a:rPr>
              <a:t>leaks() groups Fees and possible-duplicate transactions by merchant, over the same 3-month window, monthly-averaged, with every source row kept.</a:t>
            </a:r>
            <a:endParaRPr lang="en-US" sz="1300" dirty="0"/>
          </a:p>
        </p:txBody>
      </p:sp>
      <p:sp>
        <p:nvSpPr>
          <p:cNvPr id="5" name="Shape 3"/>
          <p:cNvSpPr/>
          <p:nvPr/>
        </p:nvSpPr>
        <p:spPr>
          <a:xfrm>
            <a:off x="815975" y="2601590"/>
            <a:ext cx="5149850" cy="907203"/>
          </a:xfrm>
          <a:prstGeom prst="roundRect">
            <a:avLst>
              <a:gd name="adj" fmla="val 10849"/>
            </a:avLst>
          </a:prstGeom>
          <a:solidFill>
            <a:srgbClr val="FFFFFF"/>
          </a:solidFill>
          <a:ln w="6350">
            <a:solidFill>
              <a:srgbClr val="E4E7F2"/>
            </a:solidFill>
            <a:prstDash val="solid"/>
          </a:ln>
        </p:spPr>
      </p:sp>
      <p:sp>
        <p:nvSpPr>
          <p:cNvPr id="6" name="Text 4"/>
          <p:cNvSpPr/>
          <p:nvPr/>
        </p:nvSpPr>
        <p:spPr>
          <a:xfrm>
            <a:off x="993987" y="2779601"/>
            <a:ext cx="129090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178"/>
                </a:solidFill>
                <a:latin typeface="IBM Plex Sans" pitchFamily="34" charset="0"/>
                <a:ea typeface="IBM Plex Sans" pitchFamily="34" charset="-122"/>
                <a:cs typeface="IBM Plex Sans" pitchFamily="34" charset="-120"/>
              </a:rPr>
              <a:t>Fees, MBR-0026</a:t>
            </a:r>
            <a:endParaRPr lang="en-US" sz="1300" dirty="0"/>
          </a:p>
        </p:txBody>
      </p:sp>
      <p:sp>
        <p:nvSpPr>
          <p:cNvPr id="7" name="Text 5"/>
          <p:cNvSpPr/>
          <p:nvPr/>
        </p:nvSpPr>
        <p:spPr>
          <a:xfrm>
            <a:off x="4697942" y="2779601"/>
            <a:ext cx="114067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62B"/>
                </a:solidFill>
                <a:latin typeface="Courier New" pitchFamily="34" charset="0"/>
                <a:ea typeface="Courier New" pitchFamily="34" charset="-122"/>
                <a:cs typeface="Courier New" pitchFamily="34" charset="-120"/>
              </a:rPr>
              <a:t>$49.95 / mo</a:t>
            </a:r>
            <a:endParaRPr lang="en-US" sz="1300" dirty="0"/>
          </a:p>
        </p:txBody>
      </p:sp>
      <p:sp>
        <p:nvSpPr>
          <p:cNvPr id="8" name="Text 6"/>
          <p:cNvSpPr/>
          <p:nvPr/>
        </p:nvSpPr>
        <p:spPr>
          <a:xfrm>
            <a:off x="993987" y="3099643"/>
            <a:ext cx="179275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178"/>
                </a:solidFill>
                <a:latin typeface="IBM Plex Sans" pitchFamily="34" charset="0"/>
                <a:ea typeface="IBM Plex Sans" pitchFamily="34" charset="-122"/>
                <a:cs typeface="IBM Plex Sans" pitchFamily="34" charset="-120"/>
              </a:rPr>
              <a:t>Duplicate subscriptions</a:t>
            </a:r>
            <a:endParaRPr lang="en-US" sz="1300" dirty="0"/>
          </a:p>
        </p:txBody>
      </p:sp>
      <p:sp>
        <p:nvSpPr>
          <p:cNvPr id="9" name="Text 7"/>
          <p:cNvSpPr/>
          <p:nvPr/>
        </p:nvSpPr>
        <p:spPr>
          <a:xfrm>
            <a:off x="4697942" y="3099643"/>
            <a:ext cx="114067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62B"/>
                </a:solidFill>
                <a:latin typeface="Courier New" pitchFamily="34" charset="0"/>
                <a:ea typeface="Courier New" pitchFamily="34" charset="-122"/>
                <a:cs typeface="Courier New" pitchFamily="34" charset="-120"/>
              </a:rPr>
              <a:t>$23.32 / mo</a:t>
            </a:r>
            <a:endParaRPr lang="en-US" sz="1300" dirty="0"/>
          </a:p>
        </p:txBody>
      </p:sp>
      <p:sp>
        <p:nvSpPr>
          <p:cNvPr id="10" name="Text 8"/>
          <p:cNvSpPr/>
          <p:nvPr/>
        </p:nvSpPr>
        <p:spPr>
          <a:xfrm>
            <a:off x="812800" y="3613572"/>
            <a:ext cx="531088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6178"/>
                </a:solidFill>
                <a:latin typeface="IBM Plex Sans" pitchFamily="34" charset="0"/>
                <a:ea typeface="IBM Plex Sans" pitchFamily="34" charset="-122"/>
                <a:cs typeface="IBM Plex Sans" pitchFamily="34" charset="-120"/>
              </a:rPr>
              <a:t>Wording is judgment-free by design: "Looks like two charges from FitNow Monthly might overlap," never "you're wasting money."</a:t>
            </a:r>
            <a:endParaRPr lang="en-US" sz="1250" dirty="0"/>
          </a:p>
        </p:txBody>
      </p:sp>
      <p:sp>
        <p:nvSpPr>
          <p:cNvPr id="11" name="Text 9"/>
          <p:cNvSpPr/>
          <p:nvPr/>
        </p:nvSpPr>
        <p:spPr>
          <a:xfrm>
            <a:off x="6223000" y="1803400"/>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Nothing moves until they commit</a:t>
            </a:r>
            <a:endParaRPr lang="en-US" sz="1500" dirty="0"/>
          </a:p>
        </p:txBody>
      </p:sp>
      <p:sp>
        <p:nvSpPr>
          <p:cNvPr id="12" name="Shape 10"/>
          <p:cNvSpPr/>
          <p:nvPr/>
        </p:nvSpPr>
        <p:spPr>
          <a:xfrm>
            <a:off x="6223000" y="2133600"/>
            <a:ext cx="2533650" cy="675640"/>
          </a:xfrm>
          <a:prstGeom prst="roundRect">
            <a:avLst>
              <a:gd name="adj" fmla="val 11278"/>
            </a:avLst>
          </a:prstGeom>
          <a:solidFill>
            <a:srgbClr val="E8EBFF"/>
          </a:solidFill>
          <a:ln/>
        </p:spPr>
      </p:sp>
      <p:sp>
        <p:nvSpPr>
          <p:cNvPr id="13" name="Text 11"/>
          <p:cNvSpPr/>
          <p:nvPr/>
        </p:nvSpPr>
        <p:spPr>
          <a:xfrm>
            <a:off x="6337300" y="2247900"/>
            <a:ext cx="23742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694"/>
                </a:solidFill>
                <a:latin typeface="IBM Plex Sans" pitchFamily="34" charset="0"/>
                <a:ea typeface="IBM Plex Sans" pitchFamily="34" charset="-122"/>
                <a:cs typeface="IBM Plex Sans" pitchFamily="34" charset="-120"/>
              </a:rPr>
              <a:t>I'll cancel one</a:t>
            </a:r>
            <a:endParaRPr lang="en-US" sz="1200" dirty="0"/>
          </a:p>
        </p:txBody>
      </p:sp>
      <p:sp>
        <p:nvSpPr>
          <p:cNvPr id="14" name="Text 12"/>
          <p:cNvSpPr/>
          <p:nvPr/>
        </p:nvSpPr>
        <p:spPr>
          <a:xfrm>
            <a:off x="6337300" y="2499358"/>
            <a:ext cx="237420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A4694"/>
                </a:solidFill>
                <a:latin typeface="IBM Plex Sans" pitchFamily="34" charset="0"/>
                <a:ea typeface="IBM Plex Sans" pitchFamily="34" charset="-122"/>
                <a:cs typeface="IBM Plex Sans" pitchFamily="34" charset="-120"/>
              </a:rPr>
              <a:t>duplicate, confirm</a:t>
            </a:r>
            <a:endParaRPr lang="en-US" sz="1100" dirty="0"/>
          </a:p>
        </p:txBody>
      </p:sp>
      <p:sp>
        <p:nvSpPr>
          <p:cNvPr id="15" name="Shape 13"/>
          <p:cNvSpPr/>
          <p:nvPr/>
        </p:nvSpPr>
        <p:spPr>
          <a:xfrm>
            <a:off x="8845551" y="2133600"/>
            <a:ext cx="2533650" cy="675640"/>
          </a:xfrm>
          <a:prstGeom prst="roundRect">
            <a:avLst>
              <a:gd name="adj" fmla="val 11278"/>
            </a:avLst>
          </a:prstGeom>
          <a:solidFill>
            <a:srgbClr val="F6F7FB"/>
          </a:solidFill>
          <a:ln/>
        </p:spPr>
      </p:sp>
      <p:sp>
        <p:nvSpPr>
          <p:cNvPr id="16" name="Text 14"/>
          <p:cNvSpPr/>
          <p:nvPr/>
        </p:nvSpPr>
        <p:spPr>
          <a:xfrm>
            <a:off x="8959851" y="2247900"/>
            <a:ext cx="23742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178"/>
                </a:solidFill>
                <a:latin typeface="IBM Plex Sans" pitchFamily="34" charset="0"/>
                <a:ea typeface="IBM Plex Sans" pitchFamily="34" charset="-122"/>
                <a:cs typeface="IBM Plex Sans" pitchFamily="34" charset="-120"/>
              </a:rPr>
              <a:t>Keep both</a:t>
            </a:r>
            <a:endParaRPr lang="en-US" sz="1200" dirty="0"/>
          </a:p>
        </p:txBody>
      </p:sp>
      <p:sp>
        <p:nvSpPr>
          <p:cNvPr id="17" name="Text 15"/>
          <p:cNvSpPr/>
          <p:nvPr/>
        </p:nvSpPr>
        <p:spPr>
          <a:xfrm>
            <a:off x="8959851" y="2499358"/>
            <a:ext cx="237420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178"/>
                </a:solidFill>
                <a:latin typeface="IBM Plex Sans" pitchFamily="34" charset="0"/>
                <a:ea typeface="IBM Plex Sans" pitchFamily="34" charset="-122"/>
                <a:cs typeface="IBM Plex Sans" pitchFamily="34" charset="-120"/>
              </a:rPr>
              <a:t>duplicate, dismiss</a:t>
            </a:r>
            <a:endParaRPr lang="en-US" sz="1100" dirty="0"/>
          </a:p>
        </p:txBody>
      </p:sp>
      <p:sp>
        <p:nvSpPr>
          <p:cNvPr id="18" name="Shape 16"/>
          <p:cNvSpPr/>
          <p:nvPr/>
        </p:nvSpPr>
        <p:spPr>
          <a:xfrm>
            <a:off x="6223000" y="2910836"/>
            <a:ext cx="2533650" cy="675640"/>
          </a:xfrm>
          <a:prstGeom prst="roundRect">
            <a:avLst>
              <a:gd name="adj" fmla="val 11278"/>
            </a:avLst>
          </a:prstGeom>
          <a:solidFill>
            <a:srgbClr val="E8EBFF"/>
          </a:solidFill>
          <a:ln/>
        </p:spPr>
      </p:sp>
      <p:sp>
        <p:nvSpPr>
          <p:cNvPr id="19" name="Text 17"/>
          <p:cNvSpPr/>
          <p:nvPr/>
        </p:nvSpPr>
        <p:spPr>
          <a:xfrm>
            <a:off x="6337300" y="3025136"/>
            <a:ext cx="23742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694"/>
                </a:solidFill>
                <a:latin typeface="IBM Plex Sans" pitchFamily="34" charset="0"/>
                <a:ea typeface="IBM Plex Sans" pitchFamily="34" charset="-122"/>
                <a:cs typeface="IBM Plex Sans" pitchFamily="34" charset="-120"/>
              </a:rPr>
              <a:t>Help me avoid these</a:t>
            </a:r>
            <a:endParaRPr lang="en-US" sz="1200" dirty="0"/>
          </a:p>
        </p:txBody>
      </p:sp>
      <p:sp>
        <p:nvSpPr>
          <p:cNvPr id="20" name="Text 18"/>
          <p:cNvSpPr/>
          <p:nvPr/>
        </p:nvSpPr>
        <p:spPr>
          <a:xfrm>
            <a:off x="6337300" y="3276600"/>
            <a:ext cx="237420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A4694"/>
                </a:solidFill>
                <a:latin typeface="IBM Plex Sans" pitchFamily="34" charset="0"/>
                <a:ea typeface="IBM Plex Sans" pitchFamily="34" charset="-122"/>
                <a:cs typeface="IBM Plex Sans" pitchFamily="34" charset="-120"/>
              </a:rPr>
              <a:t>fee, confirm</a:t>
            </a:r>
            <a:endParaRPr lang="en-US" sz="1100" dirty="0"/>
          </a:p>
        </p:txBody>
      </p:sp>
      <p:sp>
        <p:nvSpPr>
          <p:cNvPr id="21" name="Shape 19"/>
          <p:cNvSpPr/>
          <p:nvPr/>
        </p:nvSpPr>
        <p:spPr>
          <a:xfrm>
            <a:off x="8845551" y="2910836"/>
            <a:ext cx="2533650" cy="675640"/>
          </a:xfrm>
          <a:prstGeom prst="roundRect">
            <a:avLst>
              <a:gd name="adj" fmla="val 11278"/>
            </a:avLst>
          </a:prstGeom>
          <a:solidFill>
            <a:srgbClr val="F6F7FB"/>
          </a:solidFill>
          <a:ln/>
        </p:spPr>
      </p:sp>
      <p:sp>
        <p:nvSpPr>
          <p:cNvPr id="22" name="Text 20"/>
          <p:cNvSpPr/>
          <p:nvPr/>
        </p:nvSpPr>
        <p:spPr>
          <a:xfrm>
            <a:off x="8959851" y="3025136"/>
            <a:ext cx="23742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178"/>
                </a:solidFill>
                <a:latin typeface="IBM Plex Sans" pitchFamily="34" charset="0"/>
                <a:ea typeface="IBM Plex Sans" pitchFamily="34" charset="-122"/>
                <a:cs typeface="IBM Plex Sans" pitchFamily="34" charset="-120"/>
              </a:rPr>
              <a:t>Not now</a:t>
            </a:r>
            <a:endParaRPr lang="en-US" sz="1200" dirty="0"/>
          </a:p>
        </p:txBody>
      </p:sp>
      <p:sp>
        <p:nvSpPr>
          <p:cNvPr id="23" name="Text 21"/>
          <p:cNvSpPr/>
          <p:nvPr/>
        </p:nvSpPr>
        <p:spPr>
          <a:xfrm>
            <a:off x="8959851" y="3276600"/>
            <a:ext cx="237420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178"/>
                </a:solidFill>
                <a:latin typeface="IBM Plex Sans" pitchFamily="34" charset="0"/>
                <a:ea typeface="IBM Plex Sans" pitchFamily="34" charset="-122"/>
                <a:cs typeface="IBM Plex Sans" pitchFamily="34" charset="-120"/>
              </a:rPr>
              <a:t>fee, dismiss</a:t>
            </a:r>
            <a:endParaRPr lang="en-US" sz="1100" dirty="0"/>
          </a:p>
        </p:txBody>
      </p:sp>
      <p:sp>
        <p:nvSpPr>
          <p:cNvPr id="24" name="Text 22"/>
          <p:cNvSpPr/>
          <p:nvPr/>
        </p:nvSpPr>
        <p:spPr>
          <a:xfrm>
            <a:off x="6223000" y="3688079"/>
            <a:ext cx="531088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6178"/>
                </a:solidFill>
                <a:latin typeface="IBM Plex Sans" pitchFamily="34" charset="0"/>
                <a:ea typeface="IBM Plex Sans" pitchFamily="34" charset="-122"/>
                <a:cs typeface="IBM Plex Sans" pitchFamily="34" charset="-120"/>
              </a:rPr>
              <a:t>Confirming only adds "if you follow through, by next payday," never a booked amount today.</a:t>
            </a:r>
            <a:endParaRPr lang="en-US" sz="1250" dirty="0"/>
          </a:p>
        </p:txBody>
      </p:sp>
      <p:sp>
        <p:nvSpPr>
          <p:cNvPr id="25" name="Shape 23"/>
          <p:cNvSpPr/>
          <p:nvPr/>
        </p:nvSpPr>
        <p:spPr>
          <a:xfrm>
            <a:off x="6223000" y="4234179"/>
            <a:ext cx="5156200" cy="894080"/>
          </a:xfrm>
          <a:prstGeom prst="roundRect">
            <a:avLst>
              <a:gd name="adj" fmla="val 8523"/>
            </a:avLst>
          </a:prstGeom>
          <a:solidFill>
            <a:srgbClr val="FFF4DC"/>
          </a:solidFill>
          <a:ln/>
        </p:spPr>
      </p:sp>
      <p:sp>
        <p:nvSpPr>
          <p:cNvPr id="26" name="Text 24"/>
          <p:cNvSpPr/>
          <p:nvPr/>
        </p:nvSpPr>
        <p:spPr>
          <a:xfrm>
            <a:off x="6375400" y="4361179"/>
            <a:ext cx="4996942"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On the hand-off screen</a:t>
            </a:r>
            <a:r>
              <a:rPr lang="en-US" sz="1200" dirty="0">
                <a:solidFill>
                  <a:srgbClr val="7A5300"/>
                </a:solidFill>
                <a:latin typeface="IBM Plex Sans" pitchFamily="34" charset="0"/>
                <a:ea typeface="IBM Plex Sans" pitchFamily="34" charset="-122"/>
                <a:cs typeface="IBM Plex Sans" pitchFamily="34" charset="-120"/>
              </a:rPr>
              <a:t> (MBR-0062, $44.51/mo found): "ways to free up money while you talk to a counselor," no confirm buttons, no savings amount at all.</a:t>
            </a:r>
            <a:endParaRPr lang="en-US" sz="1200" dirty="0"/>
          </a:p>
        </p:txBody>
      </p:sp>
      <p:sp>
        <p:nvSpPr>
          <p:cNvPr id="27" name="Text 25"/>
          <p:cNvSpPr/>
          <p:nvPr/>
        </p:nvSpPr>
        <p:spPr>
          <a:xfrm>
            <a:off x="812800" y="6238236"/>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28" name="Text 26"/>
          <p:cNvSpPr/>
          <p:nvPr/>
        </p:nvSpPr>
        <p:spPr>
          <a:xfrm>
            <a:off x="10058401" y="6238236"/>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ASK PENNY — CHAT</a:t>
            </a:r>
            <a:endParaRPr lang="en-US" sz="1200" dirty="0"/>
          </a:p>
        </p:txBody>
      </p:sp>
      <p:sp>
        <p:nvSpPr>
          <p:cNvPr id="3" name="Text 1"/>
          <p:cNvSpPr/>
          <p:nvPr/>
        </p:nvSpPr>
        <p:spPr>
          <a:xfrm>
            <a:off x="812800" y="1127758"/>
            <a:ext cx="10883393"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62B"/>
                </a:solidFill>
                <a:latin typeface="Space Grotesk" pitchFamily="34" charset="0"/>
                <a:ea typeface="Space Grotesk" pitchFamily="34" charset="-122"/>
                <a:cs typeface="Space Grotesk" pitchFamily="34" charset="-120"/>
              </a:rPr>
              <a:t>A wider allowlist, on purpose</a:t>
            </a:r>
            <a:endParaRPr lang="en-US" sz="3200" dirty="0"/>
          </a:p>
        </p:txBody>
      </p:sp>
      <p:sp>
        <p:nvSpPr>
          <p:cNvPr id="4" name="Shape 2"/>
          <p:cNvSpPr/>
          <p:nvPr/>
        </p:nvSpPr>
        <p:spPr>
          <a:xfrm>
            <a:off x="812800" y="1803400"/>
            <a:ext cx="1474576" cy="365760"/>
          </a:xfrm>
          <a:prstGeom prst="roundRect">
            <a:avLst>
              <a:gd name="adj" fmla="val 50000"/>
            </a:avLst>
          </a:prstGeom>
          <a:solidFill>
            <a:srgbClr val="E8EBFF"/>
          </a:solidFill>
          <a:ln/>
        </p:spPr>
      </p:sp>
      <p:sp>
        <p:nvSpPr>
          <p:cNvPr id="5" name="Text 3"/>
          <p:cNvSpPr/>
          <p:nvPr/>
        </p:nvSpPr>
        <p:spPr>
          <a:xfrm>
            <a:off x="939800" y="1879600"/>
            <a:ext cx="12713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Why this amount?</a:t>
            </a:r>
            <a:endParaRPr lang="en-US" sz="1200" dirty="0"/>
          </a:p>
        </p:txBody>
      </p:sp>
      <p:sp>
        <p:nvSpPr>
          <p:cNvPr id="6" name="Shape 4"/>
          <p:cNvSpPr/>
          <p:nvPr/>
        </p:nvSpPr>
        <p:spPr>
          <a:xfrm>
            <a:off x="2350876" y="1803400"/>
            <a:ext cx="2308966" cy="365760"/>
          </a:xfrm>
          <a:prstGeom prst="roundRect">
            <a:avLst>
              <a:gd name="adj" fmla="val 50000"/>
            </a:avLst>
          </a:prstGeom>
          <a:solidFill>
            <a:srgbClr val="E8EBFF"/>
          </a:solidFill>
          <a:ln/>
        </p:spPr>
      </p:sp>
      <p:sp>
        <p:nvSpPr>
          <p:cNvPr id="7" name="Text 5"/>
          <p:cNvSpPr/>
          <p:nvPr/>
        </p:nvSpPr>
        <p:spPr>
          <a:xfrm>
            <a:off x="2477876" y="1879600"/>
            <a:ext cx="21166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What if I can't save this week?</a:t>
            </a:r>
            <a:endParaRPr lang="en-US" sz="1200" dirty="0"/>
          </a:p>
        </p:txBody>
      </p:sp>
      <p:sp>
        <p:nvSpPr>
          <p:cNvPr id="8" name="Shape 6"/>
          <p:cNvSpPr/>
          <p:nvPr/>
        </p:nvSpPr>
        <p:spPr>
          <a:xfrm>
            <a:off x="812800" y="2232658"/>
            <a:ext cx="2147464" cy="365760"/>
          </a:xfrm>
          <a:prstGeom prst="roundRect">
            <a:avLst>
              <a:gd name="adj" fmla="val 50000"/>
            </a:avLst>
          </a:prstGeom>
          <a:solidFill>
            <a:srgbClr val="E8EBFF"/>
          </a:solidFill>
          <a:ln/>
        </p:spPr>
      </p:sp>
      <p:sp>
        <p:nvSpPr>
          <p:cNvPr id="9" name="Text 7"/>
          <p:cNvSpPr/>
          <p:nvPr/>
        </p:nvSpPr>
        <p:spPr>
          <a:xfrm>
            <a:off x="939800" y="2308858"/>
            <a:ext cx="19502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How did you figure this out?</a:t>
            </a:r>
            <a:endParaRPr lang="en-US" sz="1200" dirty="0"/>
          </a:p>
        </p:txBody>
      </p:sp>
      <p:sp>
        <p:nvSpPr>
          <p:cNvPr id="10" name="Shape 8"/>
          <p:cNvSpPr/>
          <p:nvPr/>
        </p:nvSpPr>
        <p:spPr>
          <a:xfrm>
            <a:off x="3023764" y="2232658"/>
            <a:ext cx="1335299" cy="365760"/>
          </a:xfrm>
          <a:prstGeom prst="roundRect">
            <a:avLst>
              <a:gd name="adj" fmla="val 50000"/>
            </a:avLst>
          </a:prstGeom>
          <a:solidFill>
            <a:srgbClr val="E8EBFF"/>
          </a:solidFill>
          <a:ln/>
        </p:spPr>
      </p:sp>
      <p:sp>
        <p:nvSpPr>
          <p:cNvPr id="11" name="Text 9"/>
          <p:cNvSpPr/>
          <p:nvPr/>
        </p:nvSpPr>
        <p:spPr>
          <a:xfrm>
            <a:off x="3150764" y="2308858"/>
            <a:ext cx="11320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694"/>
                </a:solidFill>
                <a:latin typeface="IBM Plex Sans" pitchFamily="34" charset="0"/>
                <a:ea typeface="IBM Plex Sans" pitchFamily="34" charset="-122"/>
                <a:cs typeface="IBM Plex Sans" pitchFamily="34" charset="-120"/>
              </a:rPr>
              <a:t>Talk to a person</a:t>
            </a:r>
            <a:endParaRPr lang="en-US" sz="1200" dirty="0"/>
          </a:p>
        </p:txBody>
      </p:sp>
      <p:sp>
        <p:nvSpPr>
          <p:cNvPr id="12" name="Text 10"/>
          <p:cNvSpPr/>
          <p:nvPr/>
        </p:nvSpPr>
        <p:spPr>
          <a:xfrm>
            <a:off x="812800" y="2700015"/>
            <a:ext cx="5310886"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6178"/>
                </a:solidFill>
                <a:latin typeface="IBM Plex Sans" pitchFamily="34" charset="0"/>
                <a:ea typeface="IBM Plex Sans" pitchFamily="34" charset="-122"/>
                <a:cs typeface="IBM Plex Sans" pitchFamily="34" charset="-120"/>
              </a:rPr>
              <a:t>Hardship phrases and "talk to a person" are caught by keyword match before any model call, so the counselor contact always shows, reliably.</a:t>
            </a:r>
            <a:endParaRPr lang="en-US" sz="1250" dirty="0"/>
          </a:p>
        </p:txBody>
      </p:sp>
      <p:sp>
        <p:nvSpPr>
          <p:cNvPr id="13" name="Text 11"/>
          <p:cNvSpPr/>
          <p:nvPr/>
        </p:nvSpPr>
        <p:spPr>
          <a:xfrm>
            <a:off x="812800" y="3246115"/>
            <a:ext cx="5310886"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5B6178"/>
                </a:solidFill>
                <a:latin typeface="IBM Plex Sans" pitchFamily="34" charset="0"/>
                <a:ea typeface="IBM Plex Sans" pitchFamily="34" charset="-122"/>
                <a:cs typeface="IBM Plex Sans" pitchFamily="34" charset="-120"/>
              </a:rPr>
              <a:t>Everything else may cite any of the member's own facts, including the surplus, the buffer, and the 3-month window, since the point of asking is to see the math. It still blocks investment language and answers over 3 sentences.</a:t>
            </a:r>
            <a:endParaRPr lang="en-US" sz="1250" dirty="0"/>
          </a:p>
        </p:txBody>
      </p:sp>
      <p:sp>
        <p:nvSpPr>
          <p:cNvPr id="14" name="Shape 12"/>
          <p:cNvSpPr/>
          <p:nvPr/>
        </p:nvSpPr>
        <p:spPr>
          <a:xfrm>
            <a:off x="6226175" y="1806575"/>
            <a:ext cx="5149850" cy="1438063"/>
          </a:xfrm>
          <a:prstGeom prst="roundRect">
            <a:avLst>
              <a:gd name="adj" fmla="val 6844"/>
            </a:avLst>
          </a:prstGeom>
          <a:solidFill>
            <a:srgbClr val="FFFFFF"/>
          </a:solidFill>
          <a:ln w="6350">
            <a:solidFill>
              <a:srgbClr val="E4E7F2"/>
            </a:solidFill>
            <a:prstDash val="solid"/>
          </a:ln>
        </p:spPr>
      </p:sp>
      <p:sp>
        <p:nvSpPr>
          <p:cNvPr id="15" name="Text 13"/>
          <p:cNvSpPr/>
          <p:nvPr/>
        </p:nvSpPr>
        <p:spPr>
          <a:xfrm>
            <a:off x="6404187" y="1984586"/>
            <a:ext cx="493764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178"/>
                </a:solidFill>
                <a:latin typeface="IBM Plex Sans" pitchFamily="34" charset="0"/>
                <a:ea typeface="IBM Plex Sans" pitchFamily="34" charset="-122"/>
                <a:cs typeface="IBM Plex Sans" pitchFamily="34" charset="-120"/>
              </a:rPr>
              <a:t>You: Why this amount?</a:t>
            </a:r>
            <a:endParaRPr lang="en-US" sz="1200" dirty="0"/>
          </a:p>
        </p:txBody>
      </p:sp>
      <p:sp>
        <p:nvSpPr>
          <p:cNvPr id="16" name="Text 14"/>
          <p:cNvSpPr/>
          <p:nvPr/>
        </p:nvSpPr>
        <p:spPr>
          <a:xfrm>
            <a:off x="6404187" y="2274143"/>
            <a:ext cx="493764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"You have about $964.34 left over most months, so moving $166.90 still keeps a 25% cushion."</a:t>
            </a:r>
            <a:endParaRPr lang="en-US" sz="1250" dirty="0"/>
          </a:p>
        </p:txBody>
      </p:sp>
      <p:sp>
        <p:nvSpPr>
          <p:cNvPr id="17" name="Shape 15"/>
          <p:cNvSpPr/>
          <p:nvPr/>
        </p:nvSpPr>
        <p:spPr>
          <a:xfrm>
            <a:off x="6404187" y="2794843"/>
            <a:ext cx="743585" cy="271780"/>
          </a:xfrm>
          <a:prstGeom prst="roundRect">
            <a:avLst>
              <a:gd name="adj" fmla="val 50000"/>
            </a:avLst>
          </a:prstGeom>
          <a:solidFill>
            <a:srgbClr val="E4F3EA"/>
          </a:solidFill>
          <a:ln/>
        </p:spPr>
      </p:sp>
      <p:sp>
        <p:nvSpPr>
          <p:cNvPr id="18" name="Text 16"/>
          <p:cNvSpPr/>
          <p:nvPr/>
        </p:nvSpPr>
        <p:spPr>
          <a:xfrm>
            <a:off x="6505787" y="2832943"/>
            <a:ext cx="591185"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2F855A"/>
                </a:solidFill>
                <a:latin typeface="IBM Plex Sans" pitchFamily="34" charset="0"/>
                <a:ea typeface="IBM Plex Sans" pitchFamily="34" charset="-122"/>
                <a:cs typeface="IBM Plex Sans" pitchFamily="34" charset="-120"/>
              </a:rPr>
              <a:t>checked</a:t>
            </a:r>
            <a:endParaRPr lang="en-US" sz="1100" dirty="0"/>
          </a:p>
        </p:txBody>
      </p:sp>
      <p:sp>
        <p:nvSpPr>
          <p:cNvPr id="19" name="Text 17"/>
          <p:cNvSpPr/>
          <p:nvPr/>
        </p:nvSpPr>
        <p:spPr>
          <a:xfrm>
            <a:off x="7211272" y="2832943"/>
            <a:ext cx="2378235"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178"/>
                </a:solidFill>
                <a:latin typeface="IBM Plex Sans" pitchFamily="34" charset="0"/>
                <a:ea typeface="IBM Plex Sans" pitchFamily="34" charset="-122"/>
                <a:cs typeface="IBM Plex Sans" pitchFamily="34" charset="-120"/>
              </a:rPr>
              <a:t>surplus and buffer, allowed here only</a:t>
            </a:r>
            <a:endParaRPr lang="en-US" sz="1100" dirty="0"/>
          </a:p>
        </p:txBody>
      </p:sp>
      <p:sp>
        <p:nvSpPr>
          <p:cNvPr id="20" name="Shape 18"/>
          <p:cNvSpPr/>
          <p:nvPr/>
        </p:nvSpPr>
        <p:spPr>
          <a:xfrm>
            <a:off x="6223000" y="3349408"/>
            <a:ext cx="5156200" cy="1272540"/>
          </a:xfrm>
          <a:prstGeom prst="roundRect">
            <a:avLst>
              <a:gd name="adj" fmla="val 7984"/>
            </a:avLst>
          </a:prstGeom>
          <a:solidFill>
            <a:srgbClr val="FFF4DC"/>
          </a:solidFill>
          <a:ln/>
        </p:spPr>
      </p:sp>
      <p:sp>
        <p:nvSpPr>
          <p:cNvPr id="21" name="Text 19"/>
          <p:cNvSpPr/>
          <p:nvPr/>
        </p:nvSpPr>
        <p:spPr>
          <a:xfrm>
            <a:off x="6400800" y="3527208"/>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300"/>
                </a:solidFill>
                <a:latin typeface="IBM Plex Sans" pitchFamily="34" charset="0"/>
                <a:ea typeface="IBM Plex Sans" pitchFamily="34" charset="-122"/>
                <a:cs typeface="IBM Plex Sans" pitchFamily="34" charset="-120"/>
              </a:rPr>
              <a:t>One honest limitation</a:t>
            </a:r>
            <a:endParaRPr lang="en-US" sz="1200" dirty="0"/>
          </a:p>
        </p:txBody>
      </p:sp>
      <p:sp>
        <p:nvSpPr>
          <p:cNvPr id="22" name="Text 20"/>
          <p:cNvSpPr/>
          <p:nvPr/>
        </p:nvSpPr>
        <p:spPr>
          <a:xfrm>
            <a:off x="6400800" y="3804072"/>
            <a:ext cx="494461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300"/>
                </a:solidFill>
                <a:latin typeface="IBM Plex Sans" pitchFamily="34" charset="0"/>
                <a:ea typeface="IBM Plex Sans" pitchFamily="34" charset="-122"/>
                <a:cs typeface="IBM Plex Sans" pitchFamily="34" charset="-120"/>
              </a:rPr>
              <a:t>Dollar amounts are hard-blocked against the facts. A date the model once invented was not, only discouraged by the prompt, since the ask only specified dollar checking.</a:t>
            </a:r>
            <a:endParaRPr lang="en-US" sz="1200" dirty="0"/>
          </a:p>
        </p:txBody>
      </p:sp>
      <p:sp>
        <p:nvSpPr>
          <p:cNvPr id="23" name="Text 21"/>
          <p:cNvSpPr/>
          <p:nvPr/>
        </p:nvSpPr>
        <p:spPr>
          <a:xfrm>
            <a:off x="812800" y="6238236"/>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24" name="Text 22"/>
          <p:cNvSpPr/>
          <p:nvPr/>
        </p:nvSpPr>
        <p:spPr>
          <a:xfrm>
            <a:off x="10058401" y="6238236"/>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PORTFOLIO CHECK — ALL 100 MEMBERS</a:t>
            </a:r>
            <a:endParaRPr lang="en-US" sz="1200" dirty="0"/>
          </a:p>
        </p:txBody>
      </p:sp>
      <p:sp>
        <p:nvSpPr>
          <p:cNvPr id="3" name="Text 1"/>
          <p:cNvSpPr/>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162B"/>
                </a:solidFill>
                <a:latin typeface="Space Grotesk" pitchFamily="34" charset="0"/>
                <a:ea typeface="Space Grotesk" pitchFamily="34" charset="-122"/>
                <a:cs typeface="Space Grotesk" pitchFamily="34" charset="-120"/>
              </a:rPr>
              <a:t>Not just two demo members</a:t>
            </a:r>
            <a:endParaRPr lang="en-US" sz="3000" dirty="0"/>
          </a:p>
        </p:txBody>
      </p:sp>
      <p:sp>
        <p:nvSpPr>
          <p:cNvPr id="4" name="Shape 2"/>
          <p:cNvSpPr/>
          <p:nvPr/>
        </p:nvSpPr>
        <p:spPr>
          <a:xfrm>
            <a:off x="812800" y="1750058"/>
            <a:ext cx="3403600" cy="1247140"/>
          </a:xfrm>
          <a:prstGeom prst="roundRect">
            <a:avLst>
              <a:gd name="adj" fmla="val 8147"/>
            </a:avLst>
          </a:prstGeom>
          <a:solidFill>
            <a:srgbClr val="14162B"/>
          </a:solidFill>
          <a:ln/>
        </p:spPr>
      </p:sp>
      <p:sp>
        <p:nvSpPr>
          <p:cNvPr id="5" name="Text 3"/>
          <p:cNvSpPr/>
          <p:nvPr/>
        </p:nvSpPr>
        <p:spPr>
          <a:xfrm>
            <a:off x="990600" y="1927858"/>
            <a:ext cx="313944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6F7FB"/>
                </a:solidFill>
                <a:latin typeface="Space Grotesk" pitchFamily="34" charset="0"/>
                <a:ea typeface="Space Grotesk" pitchFamily="34" charset="-122"/>
                <a:cs typeface="Space Grotesk" pitchFamily="34" charset="-120"/>
              </a:rPr>
              <a:t>100</a:t>
            </a:r>
            <a:endParaRPr lang="en-US" sz="3600" dirty="0"/>
          </a:p>
        </p:txBody>
      </p:sp>
      <p:sp>
        <p:nvSpPr>
          <p:cNvPr id="6" name="Text 4"/>
          <p:cNvSpPr/>
          <p:nvPr/>
        </p:nvSpPr>
        <p:spPr>
          <a:xfrm>
            <a:off x="990600" y="2606036"/>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D"/>
                </a:solidFill>
                <a:latin typeface="IBM Plex Sans" pitchFamily="34" charset="0"/>
                <a:ea typeface="IBM Plex Sans" pitchFamily="34" charset="-122"/>
                <a:cs typeface="IBM Plex Sans" pitchFamily="34" charset="-120"/>
              </a:rPr>
              <a:t>members checked, as of Sep 1</a:t>
            </a:r>
            <a:endParaRPr lang="en-US" sz="1200" dirty="0"/>
          </a:p>
        </p:txBody>
      </p:sp>
      <p:sp>
        <p:nvSpPr>
          <p:cNvPr id="7" name="Shape 5"/>
          <p:cNvSpPr/>
          <p:nvPr/>
        </p:nvSpPr>
        <p:spPr>
          <a:xfrm>
            <a:off x="4394200" y="1750058"/>
            <a:ext cx="3403600" cy="1247140"/>
          </a:xfrm>
          <a:prstGeom prst="roundRect">
            <a:avLst>
              <a:gd name="adj" fmla="val 8147"/>
            </a:avLst>
          </a:prstGeom>
          <a:solidFill>
            <a:srgbClr val="E4F3EA"/>
          </a:solidFill>
          <a:ln/>
        </p:spPr>
      </p:sp>
      <p:sp>
        <p:nvSpPr>
          <p:cNvPr id="8" name="Text 6"/>
          <p:cNvSpPr/>
          <p:nvPr/>
        </p:nvSpPr>
        <p:spPr>
          <a:xfrm>
            <a:off x="4572000" y="1927858"/>
            <a:ext cx="313944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2F855A"/>
                </a:solidFill>
                <a:latin typeface="Space Grotesk" pitchFamily="34" charset="0"/>
                <a:ea typeface="Space Grotesk" pitchFamily="34" charset="-122"/>
                <a:cs typeface="Space Grotesk" pitchFamily="34" charset="-120"/>
              </a:rPr>
              <a:t>38</a:t>
            </a:r>
            <a:endParaRPr lang="en-US" sz="3600" dirty="0"/>
          </a:p>
        </p:txBody>
      </p:sp>
      <p:sp>
        <p:nvSpPr>
          <p:cNvPr id="9" name="Text 7"/>
          <p:cNvSpPr/>
          <p:nvPr/>
        </p:nvSpPr>
        <p:spPr>
          <a:xfrm>
            <a:off x="4572000" y="2606036"/>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855A"/>
                </a:solidFill>
                <a:latin typeface="IBM Plex Sans" pitchFamily="34" charset="0"/>
                <a:ea typeface="IBM Plex Sans" pitchFamily="34" charset="-122"/>
                <a:cs typeface="IBM Plex Sans" pitchFamily="34" charset="-120"/>
              </a:rPr>
              <a:t>get a savings recommendation</a:t>
            </a:r>
            <a:endParaRPr lang="en-US" sz="1200" dirty="0"/>
          </a:p>
        </p:txBody>
      </p:sp>
      <p:sp>
        <p:nvSpPr>
          <p:cNvPr id="10" name="Shape 8"/>
          <p:cNvSpPr/>
          <p:nvPr/>
        </p:nvSpPr>
        <p:spPr>
          <a:xfrm>
            <a:off x="7975601" y="1750058"/>
            <a:ext cx="3403600" cy="1247140"/>
          </a:xfrm>
          <a:prstGeom prst="roundRect">
            <a:avLst>
              <a:gd name="adj" fmla="val 8147"/>
            </a:avLst>
          </a:prstGeom>
          <a:solidFill>
            <a:srgbClr val="FFF4DC"/>
          </a:solidFill>
          <a:ln/>
        </p:spPr>
      </p:sp>
      <p:sp>
        <p:nvSpPr>
          <p:cNvPr id="11" name="Text 9"/>
          <p:cNvSpPr/>
          <p:nvPr/>
        </p:nvSpPr>
        <p:spPr>
          <a:xfrm>
            <a:off x="8153401" y="1927858"/>
            <a:ext cx="313944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7A5300"/>
                </a:solidFill>
                <a:latin typeface="Space Grotesk" pitchFamily="34" charset="0"/>
                <a:ea typeface="Space Grotesk" pitchFamily="34" charset="-122"/>
                <a:cs typeface="Space Grotesk" pitchFamily="34" charset="-120"/>
              </a:rPr>
              <a:t>62</a:t>
            </a:r>
            <a:endParaRPr lang="en-US" sz="3600" dirty="0"/>
          </a:p>
        </p:txBody>
      </p:sp>
      <p:sp>
        <p:nvSpPr>
          <p:cNvPr id="12" name="Text 10"/>
          <p:cNvSpPr/>
          <p:nvPr/>
        </p:nvSpPr>
        <p:spPr>
          <a:xfrm>
            <a:off x="8153401" y="2606036"/>
            <a:ext cx="313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5300"/>
                </a:solidFill>
                <a:latin typeface="IBM Plex Sans" pitchFamily="34" charset="0"/>
                <a:ea typeface="IBM Plex Sans" pitchFamily="34" charset="-122"/>
                <a:cs typeface="IBM Plex Sans" pitchFamily="34" charset="-120"/>
              </a:rPr>
              <a:t>handed to a counselor</a:t>
            </a:r>
            <a:endParaRPr lang="en-US" sz="1200" dirty="0"/>
          </a:p>
        </p:txBody>
      </p:sp>
      <p:sp>
        <p:nvSpPr>
          <p:cNvPr id="13" name="Text 11"/>
          <p:cNvSpPr/>
          <p:nvPr/>
        </p:nvSpPr>
        <p:spPr>
          <a:xfrm>
            <a:off x="812800" y="3200400"/>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Why they're handed off</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3528060"/>
          <a:ext cx="5146040" cy="1030605"/>
        </p:xfrm>
        <a:graphic>
          <a:graphicData uri="http://schemas.openxmlformats.org/drawingml/2006/table">
            <a:tbl>
              <a:tblPr/>
              <a:tblGrid>
                <a:gridCol w="3910991"/>
                <a:gridCol w="1235050"/>
              </a:tblGrid>
              <a:tr h="343535">
                <a:tc>
                  <a:txBody>
                    <a:bodyPr/>
                    <a:lstStyle/>
                    <a:p>
                      <a:pPr indent="0" marL="0">
                        <a:lnSpc>
                          <a:spcPts val="1750"/>
                        </a:lnSpc>
                        <a:buNone/>
                      </a:pPr>
                      <a:r>
                        <a:rPr lang="en-US" sz="1250" b="1" dirty="0">
                          <a:solidFill>
                            <a:srgbClr val="F6F7FB"/>
                          </a:solidFill>
                          <a:latin typeface="IBM Plex Sans" pitchFamily="34" charset="0"/>
                          <a:ea typeface="IBM Plex Sans" pitchFamily="34" charset="-122"/>
                          <a:cs typeface="IBM Plex Sans" pitchFamily="34" charset="-120"/>
                        </a:rPr>
                        <a:t>Reason</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5C8"/>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c>
                  <a:txBody>
                    <a:bodyPr/>
                    <a:lstStyle/>
                    <a:p>
                      <a:pPr indent="0" marL="0">
                        <a:lnSpc>
                          <a:spcPts val="1750"/>
                        </a:lnSpc>
                        <a:buNone/>
                      </a:pPr>
                      <a:r>
                        <a:rPr lang="en-US" sz="1250" b="1" dirty="0">
                          <a:solidFill>
                            <a:srgbClr val="F6F7FB"/>
                          </a:solidFill>
                          <a:latin typeface="IBM Plex Sans" pitchFamily="34" charset="0"/>
                          <a:ea typeface="IBM Plex Sans" pitchFamily="34" charset="-122"/>
                          <a:cs typeface="IBM Plex Sans" pitchFamily="34" charset="-120"/>
                        </a:rPr>
                        <a:t>Members</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141626"/>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r>
              <a:tr h="343535">
                <a:tc>
                  <a:txBody>
                    <a:bodyPr/>
                    <a:lstStyle/>
                    <a:p>
                      <a:pPr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Spending plus debt minimums exceed income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52</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43535">
                <a:tc>
                  <a:txBody>
                    <a:bodyPr/>
                    <a:lstStyle/>
                    <a:p>
                      <a:pPr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A debt is 60+ days late</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10</a:t>
                      </a:r>
                      <a:endParaRPr lang="en-US" sz="1250" dirty="0">
                        <a:latin typeface="IBM Plex Sans" charset="0"/>
                        <a:ea typeface="IBM Plex Sans" charset="0"/>
                        <a:cs typeface="IBM Plex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5" name="Text 12"/>
          <p:cNvSpPr/>
          <p:nvPr/>
        </p:nvSpPr>
        <p:spPr>
          <a:xfrm>
            <a:off x="6223000" y="3200400"/>
            <a:ext cx="53108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62B"/>
                </a:solidFill>
                <a:latin typeface="Space Grotesk" pitchFamily="34" charset="0"/>
                <a:ea typeface="Space Grotesk" pitchFamily="34" charset="-122"/>
                <a:cs typeface="Space Grotesk" pitchFamily="34" charset="-120"/>
              </a:rPr>
              <a:t>Signals a person should review</a:t>
            </a:r>
            <a:endParaRPr lang="en-US" sz="150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6233160" y="3528060"/>
          <a:ext cx="5146040" cy="1584325"/>
        </p:xfrm>
        <a:graphic>
          <a:graphicData uri="http://schemas.openxmlformats.org/drawingml/2006/table">
            <a:tbl>
              <a:tblPr/>
              <a:tblGrid>
                <a:gridCol w="3602228"/>
                <a:gridCol w="1543812"/>
              </a:tblGrid>
              <a:tr h="316865">
                <a:tc>
                  <a:txBody>
                    <a:bodyPr/>
                    <a:lstStyle/>
                    <a:p>
                      <a:pPr indent="0" marL="0">
                        <a:lnSpc>
                          <a:spcPts val="1610"/>
                        </a:lnSpc>
                        <a:buNone/>
                      </a:pPr>
                      <a:r>
                        <a:rPr lang="en-US" sz="1150" b="1" dirty="0">
                          <a:solidFill>
                            <a:srgbClr val="F6F7FB"/>
                          </a:solidFill>
                          <a:latin typeface="IBM Plex Sans" pitchFamily="34" charset="0"/>
                          <a:ea typeface="IBM Plex Sans" pitchFamily="34" charset="-122"/>
                          <a:cs typeface="IBM Plex Sans" pitchFamily="34" charset="-120"/>
                        </a:rPr>
                        <a:t>Signal</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c>
                  <a:txBody>
                    <a:bodyPr/>
                    <a:lstStyle/>
                    <a:p>
                      <a:pPr indent="0" marL="0">
                        <a:lnSpc>
                          <a:spcPts val="1610"/>
                        </a:lnSpc>
                        <a:buNone/>
                      </a:pPr>
                      <a:r>
                        <a:rPr lang="en-US" sz="1150" b="1" dirty="0">
                          <a:solidFill>
                            <a:srgbClr val="F6F7FB"/>
                          </a:solidFill>
                          <a:latin typeface="IBM Plex Sans" pitchFamily="34" charset="0"/>
                          <a:ea typeface="IBM Plex Sans" pitchFamily="34" charset="-122"/>
                          <a:cs typeface="IBM Plex Sans" pitchFamily="34" charset="-120"/>
                        </a:rPr>
                        <a:t>Members</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141626"/>
                      </a:solidFill>
                      <a:prstDash val="solid"/>
                      <a:round/>
                      <a:headEnd type="none" w="med" len="med"/>
                      <a:tailEnd type="none" w="med" len="med"/>
                    </a:lnL>
                    <a:lnR w="12700" cap="flat" cmpd="sng" algn="ctr">
                      <a:solidFill>
                        <a:srgbClr val="141626"/>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141626"/>
                      </a:solidFill>
                      <a:prstDash val="solid"/>
                      <a:round/>
                      <a:headEnd type="none" w="med" len="med"/>
                      <a:tailEnd type="none" w="med" len="med"/>
                    </a:lnB>
                    <a:solidFill>
                      <a:srgbClr val="14162B"/>
                    </a:solidFill>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Credit band vs. credit score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98</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141626"/>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Stored debt months vs. ours</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87</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Minimums over half of income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26</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4C5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5C8"/>
                      </a:solidFill>
                      <a:prstDash val="solid"/>
                      <a:round/>
                      <a:headEnd type="none" w="med" len="med"/>
                      <a:tailEnd type="none" w="med" len="med"/>
                    </a:lnB>
                  </a:tcPr>
                </a:tc>
              </a:tr>
              <a:tr h="316865">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Account age vs. member age</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4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10"/>
                        </a:lnSpc>
                        <a:buNone/>
                      </a:pPr>
                      <a:r>
                        <a:rPr lang="en-US" sz="1150" dirty="0">
                          <a:solidFill>
                            <a:srgbClr val="14162B"/>
                          </a:solidFill>
                          <a:latin typeface="IBM Plex Sans" pitchFamily="34" charset="0"/>
                          <a:ea typeface="IBM Plex Sans" pitchFamily="34" charset="-122"/>
                          <a:cs typeface="IBM Plex Sans" pitchFamily="34" charset="-120"/>
                        </a:rPr>
                        <a:t>12</a:t>
                      </a:r>
                      <a:endParaRPr lang="en-US" sz="1150" dirty="0">
                        <a:latin typeface="IBM Plex Sans" charset="0"/>
                        <a:ea typeface="IBM Plex Sans" charset="0"/>
                        <a:cs typeface="IBM Plex Sans" charset="0"/>
                      </a:endParaRPr>
                    </a:p>
                  </a:txBody>
                  <a:tcPr marL="51117" marR="51117" marT="51117" marB="5111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5C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7" name="Text 13"/>
          <p:cNvSpPr/>
          <p:nvPr/>
        </p:nvSpPr>
        <p:spPr>
          <a:xfrm>
            <a:off x="6223000" y="5201283"/>
            <a:ext cx="531088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Never "refused" or "bad data" in the wording, anywhere.</a:t>
            </a:r>
            <a:endParaRPr lang="en-US" sz="1150" dirty="0"/>
          </a:p>
        </p:txBody>
      </p:sp>
      <p:sp>
        <p:nvSpPr>
          <p:cNvPr id="18" name="Text 14"/>
          <p:cNvSpPr/>
          <p:nvPr/>
        </p:nvSpPr>
        <p:spPr>
          <a:xfrm>
            <a:off x="812800" y="6238236"/>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19" name="Text 15"/>
          <p:cNvSpPr/>
          <p:nvPr/>
        </p:nvSpPr>
        <p:spPr>
          <a:xfrm>
            <a:off x="10058401" y="6238236"/>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TESTING — PYTEST</a:t>
            </a:r>
            <a:endParaRPr lang="en-US" sz="1200" dirty="0"/>
          </a:p>
        </p:txBody>
      </p:sp>
      <p:sp>
        <p:nvSpPr>
          <p:cNvPr id="3" name="Text 1"/>
          <p:cNvSpPr/>
          <p:nvPr/>
        </p:nvSpPr>
        <p:spPr>
          <a:xfrm>
            <a:off x="812800" y="1127758"/>
            <a:ext cx="10883393"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4162B"/>
                </a:solidFill>
                <a:latin typeface="Space Grotesk" pitchFamily="34" charset="0"/>
                <a:ea typeface="Space Grotesk" pitchFamily="34" charset="-122"/>
                <a:cs typeface="Space Grotesk" pitchFamily="34" charset="-120"/>
              </a:rPr>
              <a:t>Confirm the numbers, don't redo the analysis</a:t>
            </a:r>
            <a:endParaRPr lang="en-US" sz="3000" dirty="0"/>
          </a:p>
        </p:txBody>
      </p:sp>
      <p:sp>
        <p:nvSpPr>
          <p:cNvPr id="4" name="Shape 2"/>
          <p:cNvSpPr/>
          <p:nvPr/>
        </p:nvSpPr>
        <p:spPr>
          <a:xfrm>
            <a:off x="815975" y="1778633"/>
            <a:ext cx="5618586" cy="382693"/>
          </a:xfrm>
          <a:prstGeom prst="roundRect">
            <a:avLst>
              <a:gd name="adj" fmla="val 15763"/>
            </a:avLst>
          </a:prstGeom>
          <a:solidFill>
            <a:srgbClr val="FFFFFF"/>
          </a:solidFill>
          <a:ln w="6350">
            <a:solidFill>
              <a:srgbClr val="E4E7F2"/>
            </a:solidFill>
            <a:prstDash val="solid"/>
          </a:ln>
        </p:spPr>
      </p:sp>
      <p:sp>
        <p:nvSpPr>
          <p:cNvPr id="5" name="Text 3"/>
          <p:cNvSpPr/>
          <p:nvPr/>
        </p:nvSpPr>
        <p:spPr>
          <a:xfrm>
            <a:off x="943187" y="1867743"/>
            <a:ext cx="1102413"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test_data.py</a:t>
            </a:r>
            <a:endParaRPr lang="en-US" sz="1150" dirty="0"/>
          </a:p>
        </p:txBody>
      </p:sp>
      <p:sp>
        <p:nvSpPr>
          <p:cNvPr id="6" name="Text 4"/>
          <p:cNvSpPr/>
          <p:nvPr/>
        </p:nvSpPr>
        <p:spPr>
          <a:xfrm>
            <a:off x="4291330" y="1867743"/>
            <a:ext cx="207650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canonical schema, quality gate</a:t>
            </a:r>
            <a:endParaRPr lang="en-US" sz="1150" dirty="0"/>
          </a:p>
        </p:txBody>
      </p:sp>
      <p:sp>
        <p:nvSpPr>
          <p:cNvPr id="7" name="Shape 5"/>
          <p:cNvSpPr/>
          <p:nvPr/>
        </p:nvSpPr>
        <p:spPr>
          <a:xfrm>
            <a:off x="815975" y="2231175"/>
            <a:ext cx="5618586" cy="382693"/>
          </a:xfrm>
          <a:prstGeom prst="roundRect">
            <a:avLst>
              <a:gd name="adj" fmla="val 15763"/>
            </a:avLst>
          </a:prstGeom>
          <a:solidFill>
            <a:srgbClr val="FFFFFF"/>
          </a:solidFill>
          <a:ln w="6350">
            <a:solidFill>
              <a:srgbClr val="E4E7F2"/>
            </a:solidFill>
            <a:prstDash val="solid"/>
          </a:ln>
        </p:spPr>
      </p:sp>
      <p:sp>
        <p:nvSpPr>
          <p:cNvPr id="8" name="Text 6"/>
          <p:cNvSpPr/>
          <p:nvPr/>
        </p:nvSpPr>
        <p:spPr>
          <a:xfrm>
            <a:off x="943187" y="2320286"/>
            <a:ext cx="127772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test_engine.py</a:t>
            </a:r>
            <a:endParaRPr lang="en-US" sz="1150" dirty="0"/>
          </a:p>
        </p:txBody>
      </p:sp>
      <p:sp>
        <p:nvSpPr>
          <p:cNvPr id="9" name="Text 7"/>
          <p:cNvSpPr/>
          <p:nvPr/>
        </p:nvSpPr>
        <p:spPr>
          <a:xfrm>
            <a:off x="4536387" y="2320286"/>
            <a:ext cx="1824091"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reference table, to the cent</a:t>
            </a:r>
            <a:endParaRPr lang="en-US" sz="1150" dirty="0"/>
          </a:p>
        </p:txBody>
      </p:sp>
      <p:sp>
        <p:nvSpPr>
          <p:cNvPr id="10" name="Shape 8"/>
          <p:cNvSpPr/>
          <p:nvPr/>
        </p:nvSpPr>
        <p:spPr>
          <a:xfrm>
            <a:off x="815975" y="2683718"/>
            <a:ext cx="5618586" cy="382693"/>
          </a:xfrm>
          <a:prstGeom prst="roundRect">
            <a:avLst>
              <a:gd name="adj" fmla="val 15763"/>
            </a:avLst>
          </a:prstGeom>
          <a:solidFill>
            <a:srgbClr val="FFFFFF"/>
          </a:solidFill>
          <a:ln w="6350">
            <a:solidFill>
              <a:srgbClr val="E4E7F2"/>
            </a:solidFill>
            <a:prstDash val="solid"/>
          </a:ln>
        </p:spPr>
      </p:sp>
      <p:sp>
        <p:nvSpPr>
          <p:cNvPr id="11" name="Text 9"/>
          <p:cNvSpPr/>
          <p:nvPr/>
        </p:nvSpPr>
        <p:spPr>
          <a:xfrm>
            <a:off x="943187" y="2772829"/>
            <a:ext cx="127772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test_reason.py</a:t>
            </a:r>
            <a:endParaRPr lang="en-US" sz="1150" dirty="0"/>
          </a:p>
        </p:txBody>
      </p:sp>
      <p:sp>
        <p:nvSpPr>
          <p:cNvPr id="12" name="Text 10"/>
          <p:cNvSpPr/>
          <p:nvPr/>
        </p:nvSpPr>
        <p:spPr>
          <a:xfrm>
            <a:off x="5064020" y="2772829"/>
            <a:ext cx="129413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the 4 fixed reasons</a:t>
            </a:r>
            <a:endParaRPr lang="en-US" sz="1150" dirty="0"/>
          </a:p>
        </p:txBody>
      </p:sp>
      <p:sp>
        <p:nvSpPr>
          <p:cNvPr id="13" name="Shape 11"/>
          <p:cNvSpPr/>
          <p:nvPr/>
        </p:nvSpPr>
        <p:spPr>
          <a:xfrm>
            <a:off x="815975" y="3136261"/>
            <a:ext cx="5618586" cy="382693"/>
          </a:xfrm>
          <a:prstGeom prst="roundRect">
            <a:avLst>
              <a:gd name="adj" fmla="val 15763"/>
            </a:avLst>
          </a:prstGeom>
          <a:solidFill>
            <a:srgbClr val="FFFFFF"/>
          </a:solidFill>
          <a:ln w="6350">
            <a:solidFill>
              <a:srgbClr val="E4E7F2"/>
            </a:solidFill>
            <a:prstDash val="solid"/>
          </a:ln>
        </p:spPr>
      </p:sp>
      <p:sp>
        <p:nvSpPr>
          <p:cNvPr id="14" name="Text 12"/>
          <p:cNvSpPr/>
          <p:nvPr/>
        </p:nvSpPr>
        <p:spPr>
          <a:xfrm>
            <a:off x="943187" y="3225372"/>
            <a:ext cx="145298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test_validate.py</a:t>
            </a:r>
            <a:endParaRPr lang="en-US" sz="1150" dirty="0"/>
          </a:p>
        </p:txBody>
      </p:sp>
      <p:sp>
        <p:nvSpPr>
          <p:cNvPr id="15" name="Text 13"/>
          <p:cNvSpPr/>
          <p:nvPr/>
        </p:nvSpPr>
        <p:spPr>
          <a:xfrm>
            <a:off x="5172234" y="3225372"/>
            <a:ext cx="118591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allowlist blocking</a:t>
            </a:r>
            <a:endParaRPr lang="en-US" sz="1150" dirty="0"/>
          </a:p>
        </p:txBody>
      </p:sp>
      <p:sp>
        <p:nvSpPr>
          <p:cNvPr id="16" name="Shape 14"/>
          <p:cNvSpPr/>
          <p:nvPr/>
        </p:nvSpPr>
        <p:spPr>
          <a:xfrm>
            <a:off x="815975" y="3588804"/>
            <a:ext cx="5618586" cy="382693"/>
          </a:xfrm>
          <a:prstGeom prst="roundRect">
            <a:avLst>
              <a:gd name="adj" fmla="val 15763"/>
            </a:avLst>
          </a:prstGeom>
          <a:solidFill>
            <a:srgbClr val="FFFFFF"/>
          </a:solidFill>
          <a:ln w="6350">
            <a:solidFill>
              <a:srgbClr val="E4E7F2"/>
            </a:solidFill>
            <a:prstDash val="solid"/>
          </a:ln>
        </p:spPr>
      </p:sp>
      <p:sp>
        <p:nvSpPr>
          <p:cNvPr id="17" name="Text 15"/>
          <p:cNvSpPr/>
          <p:nvPr/>
        </p:nvSpPr>
        <p:spPr>
          <a:xfrm>
            <a:off x="943187" y="3677921"/>
            <a:ext cx="127772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test_replay.py</a:t>
            </a:r>
            <a:endParaRPr lang="en-US" sz="1150" dirty="0"/>
          </a:p>
        </p:txBody>
      </p:sp>
      <p:sp>
        <p:nvSpPr>
          <p:cNvPr id="18" name="Text 16"/>
          <p:cNvSpPr/>
          <p:nvPr/>
        </p:nvSpPr>
        <p:spPr>
          <a:xfrm>
            <a:off x="4968346" y="3677921"/>
            <a:ext cx="1389803"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paydays &amp; check-ins</a:t>
            </a:r>
            <a:endParaRPr lang="en-US" sz="1150" dirty="0"/>
          </a:p>
        </p:txBody>
      </p:sp>
      <p:sp>
        <p:nvSpPr>
          <p:cNvPr id="19" name="Shape 17"/>
          <p:cNvSpPr/>
          <p:nvPr/>
        </p:nvSpPr>
        <p:spPr>
          <a:xfrm>
            <a:off x="815975" y="4041347"/>
            <a:ext cx="5618586" cy="382693"/>
          </a:xfrm>
          <a:prstGeom prst="roundRect">
            <a:avLst>
              <a:gd name="adj" fmla="val 15763"/>
            </a:avLst>
          </a:prstGeom>
          <a:solidFill>
            <a:srgbClr val="FFFFFF"/>
          </a:solidFill>
          <a:ln w="6350">
            <a:solidFill>
              <a:srgbClr val="E4E7F2"/>
            </a:solidFill>
            <a:prstDash val="solid"/>
          </a:ln>
        </p:spPr>
      </p:sp>
      <p:sp>
        <p:nvSpPr>
          <p:cNvPr id="20" name="Text 18"/>
          <p:cNvSpPr/>
          <p:nvPr/>
        </p:nvSpPr>
        <p:spPr>
          <a:xfrm>
            <a:off x="943187" y="4130464"/>
            <a:ext cx="136535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test_signals.py</a:t>
            </a:r>
            <a:endParaRPr lang="en-US" sz="1150" dirty="0"/>
          </a:p>
        </p:txBody>
      </p:sp>
      <p:sp>
        <p:nvSpPr>
          <p:cNvPr id="21" name="Text 19"/>
          <p:cNvSpPr/>
          <p:nvPr/>
        </p:nvSpPr>
        <p:spPr>
          <a:xfrm>
            <a:off x="4665610" y="4130464"/>
            <a:ext cx="1692540"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stored vs. our calculation</a:t>
            </a:r>
            <a:endParaRPr lang="en-US" sz="1150" dirty="0"/>
          </a:p>
        </p:txBody>
      </p:sp>
      <p:sp>
        <p:nvSpPr>
          <p:cNvPr id="22" name="Shape 20"/>
          <p:cNvSpPr/>
          <p:nvPr/>
        </p:nvSpPr>
        <p:spPr>
          <a:xfrm>
            <a:off x="815975" y="4493896"/>
            <a:ext cx="5618586" cy="382693"/>
          </a:xfrm>
          <a:prstGeom prst="roundRect">
            <a:avLst>
              <a:gd name="adj" fmla="val 15763"/>
            </a:avLst>
          </a:prstGeom>
          <a:solidFill>
            <a:srgbClr val="FFFFFF"/>
          </a:solidFill>
          <a:ln w="6350">
            <a:solidFill>
              <a:srgbClr val="E4E7F2"/>
            </a:solidFill>
            <a:prstDash val="solid"/>
          </a:ln>
        </p:spPr>
      </p:sp>
      <p:sp>
        <p:nvSpPr>
          <p:cNvPr id="23" name="Text 21"/>
          <p:cNvSpPr/>
          <p:nvPr/>
        </p:nvSpPr>
        <p:spPr>
          <a:xfrm>
            <a:off x="943187" y="4583007"/>
            <a:ext cx="119009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test_leaks.py</a:t>
            </a:r>
            <a:endParaRPr lang="en-US" sz="1150" dirty="0"/>
          </a:p>
        </p:txBody>
      </p:sp>
      <p:sp>
        <p:nvSpPr>
          <p:cNvPr id="24" name="Text 22"/>
          <p:cNvSpPr/>
          <p:nvPr/>
        </p:nvSpPr>
        <p:spPr>
          <a:xfrm>
            <a:off x="4282440" y="4583007"/>
            <a:ext cx="2085657"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found money, hand-off framing</a:t>
            </a:r>
            <a:endParaRPr lang="en-US" sz="1150" dirty="0"/>
          </a:p>
        </p:txBody>
      </p:sp>
      <p:sp>
        <p:nvSpPr>
          <p:cNvPr id="25" name="Shape 23"/>
          <p:cNvSpPr/>
          <p:nvPr/>
        </p:nvSpPr>
        <p:spPr>
          <a:xfrm>
            <a:off x="815975" y="4946439"/>
            <a:ext cx="5618586" cy="382693"/>
          </a:xfrm>
          <a:prstGeom prst="roundRect">
            <a:avLst>
              <a:gd name="adj" fmla="val 15763"/>
            </a:avLst>
          </a:prstGeom>
          <a:solidFill>
            <a:srgbClr val="FFFFFF"/>
          </a:solidFill>
          <a:ln w="6350">
            <a:solidFill>
              <a:srgbClr val="E4E7F2"/>
            </a:solidFill>
            <a:prstDash val="solid"/>
          </a:ln>
        </p:spPr>
      </p:sp>
      <p:sp>
        <p:nvSpPr>
          <p:cNvPr id="26" name="Text 24"/>
          <p:cNvSpPr/>
          <p:nvPr/>
        </p:nvSpPr>
        <p:spPr>
          <a:xfrm>
            <a:off x="943187" y="5035550"/>
            <a:ext cx="154061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test_portfolio.py</a:t>
            </a:r>
            <a:endParaRPr lang="en-US" sz="1150" dirty="0"/>
          </a:p>
        </p:txBody>
      </p:sp>
      <p:sp>
        <p:nvSpPr>
          <p:cNvPr id="27" name="Text 25"/>
          <p:cNvSpPr/>
          <p:nvPr/>
        </p:nvSpPr>
        <p:spPr>
          <a:xfrm>
            <a:off x="4405948" y="5035550"/>
            <a:ext cx="1958444"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MBR-0062, all 100 members</a:t>
            </a:r>
            <a:endParaRPr lang="en-US" sz="1150" dirty="0"/>
          </a:p>
        </p:txBody>
      </p:sp>
      <p:sp>
        <p:nvSpPr>
          <p:cNvPr id="28" name="Shape 26"/>
          <p:cNvSpPr/>
          <p:nvPr/>
        </p:nvSpPr>
        <p:spPr>
          <a:xfrm>
            <a:off x="815975" y="5398982"/>
            <a:ext cx="5618586" cy="382693"/>
          </a:xfrm>
          <a:prstGeom prst="roundRect">
            <a:avLst>
              <a:gd name="adj" fmla="val 15763"/>
            </a:avLst>
          </a:prstGeom>
          <a:solidFill>
            <a:srgbClr val="FFFFFF"/>
          </a:solidFill>
          <a:ln w="6350">
            <a:solidFill>
              <a:srgbClr val="E4E7F2"/>
            </a:solidFill>
            <a:prstDash val="solid"/>
          </a:ln>
        </p:spPr>
      </p:sp>
      <p:sp>
        <p:nvSpPr>
          <p:cNvPr id="29" name="Text 27"/>
          <p:cNvSpPr/>
          <p:nvPr/>
        </p:nvSpPr>
        <p:spPr>
          <a:xfrm>
            <a:off x="943187" y="5488093"/>
            <a:ext cx="1540616"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356FF"/>
                </a:solidFill>
                <a:latin typeface="Courier New" pitchFamily="34" charset="0"/>
                <a:ea typeface="Courier New" pitchFamily="34" charset="-122"/>
                <a:cs typeface="Courier New" pitchFamily="34" charset="-120"/>
              </a:rPr>
              <a:t>test_ask_penny.py</a:t>
            </a:r>
            <a:endParaRPr lang="en-US" sz="1150" dirty="0"/>
          </a:p>
        </p:txBody>
      </p:sp>
      <p:sp>
        <p:nvSpPr>
          <p:cNvPr id="30" name="Text 28"/>
          <p:cNvSpPr/>
          <p:nvPr/>
        </p:nvSpPr>
        <p:spPr>
          <a:xfrm>
            <a:off x="4777634" y="5488093"/>
            <a:ext cx="1580515"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5B6178"/>
                </a:solidFill>
                <a:latin typeface="IBM Plex Sans" pitchFamily="34" charset="0"/>
                <a:ea typeface="IBM Plex Sans" pitchFamily="34" charset="-122"/>
                <a:cs typeface="IBM Plex Sans" pitchFamily="34" charset="-120"/>
              </a:rPr>
              <a:t>chat validator, hardship</a:t>
            </a:r>
            <a:endParaRPr lang="en-US" sz="1150" dirty="0"/>
          </a:p>
        </p:txBody>
      </p:sp>
      <p:sp>
        <p:nvSpPr>
          <p:cNvPr id="31" name="Shape 29"/>
          <p:cNvSpPr/>
          <p:nvPr/>
        </p:nvSpPr>
        <p:spPr>
          <a:xfrm>
            <a:off x="6691737" y="1775458"/>
            <a:ext cx="4687464" cy="1579880"/>
          </a:xfrm>
          <a:prstGeom prst="roundRect">
            <a:avLst>
              <a:gd name="adj" fmla="val 6431"/>
            </a:avLst>
          </a:prstGeom>
          <a:solidFill>
            <a:srgbClr val="14162B"/>
          </a:solidFill>
          <a:ln/>
        </p:spPr>
      </p:sp>
      <p:sp>
        <p:nvSpPr>
          <p:cNvPr id="32" name="Text 30"/>
          <p:cNvSpPr/>
          <p:nvPr/>
        </p:nvSpPr>
        <p:spPr>
          <a:xfrm>
            <a:off x="6945737" y="2029458"/>
            <a:ext cx="4304848" cy="807720"/>
          </a:xfrm>
          <a:prstGeom prst="rect">
            <a:avLst/>
          </a:prstGeom>
          <a:noFill/>
          <a:ln/>
        </p:spPr>
        <p:txBody>
          <a:bodyPr wrap="square" lIns="0" tIns="0" rIns="0" bIns="0" rtlCol="0" anchor="t">
            <a:normAutofit/>
          </a:bodyPr>
          <a:lstStyle/>
          <a:p>
            <a:pPr algn="l" indent="0" marL="0">
              <a:lnSpc>
                <a:spcPts val="6160"/>
              </a:lnSpc>
              <a:buNone/>
            </a:pPr>
            <a:r>
              <a:rPr lang="en-US" sz="4400" b="1" dirty="0">
                <a:solidFill>
                  <a:srgbClr val="F6F7FB"/>
                </a:solidFill>
                <a:latin typeface="Space Grotesk" pitchFamily="34" charset="0"/>
                <a:ea typeface="Space Grotesk" pitchFamily="34" charset="-122"/>
                <a:cs typeface="Space Grotesk" pitchFamily="34" charset="-120"/>
              </a:rPr>
              <a:t>96 passed</a:t>
            </a:r>
            <a:endParaRPr lang="en-US" sz="4400" dirty="0"/>
          </a:p>
        </p:txBody>
      </p:sp>
      <p:sp>
        <p:nvSpPr>
          <p:cNvPr id="33" name="Text 31"/>
          <p:cNvSpPr/>
          <p:nvPr/>
        </p:nvSpPr>
        <p:spPr>
          <a:xfrm>
            <a:off x="6945737" y="2887979"/>
            <a:ext cx="43048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A0FF"/>
                </a:solidFill>
                <a:latin typeface="Courier New" pitchFamily="34" charset="0"/>
                <a:ea typeface="Courier New" pitchFamily="34" charset="-122"/>
                <a:cs typeface="Courier New" pitchFamily="34" charset="-120"/>
              </a:rPr>
              <a:t>pytest -q</a:t>
            </a:r>
            <a:endParaRPr lang="en-US" sz="1200" dirty="0"/>
          </a:p>
        </p:txBody>
      </p:sp>
      <p:sp>
        <p:nvSpPr>
          <p:cNvPr id="34" name="Shape 32"/>
          <p:cNvSpPr/>
          <p:nvPr/>
        </p:nvSpPr>
        <p:spPr>
          <a:xfrm>
            <a:off x="6694912" y="3485511"/>
            <a:ext cx="4681114" cy="1389803"/>
          </a:xfrm>
          <a:prstGeom prst="roundRect">
            <a:avLst>
              <a:gd name="adj" fmla="val 7082"/>
            </a:avLst>
          </a:prstGeom>
          <a:solidFill>
            <a:srgbClr val="FFFFFF"/>
          </a:solidFill>
          <a:ln w="6350">
            <a:solidFill>
              <a:srgbClr val="E4E7F2"/>
            </a:solidFill>
            <a:prstDash val="solid"/>
          </a:ln>
        </p:spPr>
      </p:sp>
      <p:sp>
        <p:nvSpPr>
          <p:cNvPr id="35" name="Text 33"/>
          <p:cNvSpPr/>
          <p:nvPr/>
        </p:nvSpPr>
        <p:spPr>
          <a:xfrm>
            <a:off x="6898323" y="3688922"/>
            <a:ext cx="440252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62B"/>
                </a:solidFill>
                <a:latin typeface="IBM Plex Sans" pitchFamily="34" charset="0"/>
                <a:ea typeface="IBM Plex Sans" pitchFamily="34" charset="-122"/>
                <a:cs typeface="IBM Plex Sans" pitchFamily="34" charset="-120"/>
              </a:rPr>
              <a:t>"The data analysis behind this file is already done and verified. Don't redo it from scratch; write tests that confirm it."</a:t>
            </a:r>
            <a:endParaRPr lang="en-US" sz="1300" dirty="0"/>
          </a:p>
        </p:txBody>
      </p:sp>
      <p:sp>
        <p:nvSpPr>
          <p:cNvPr id="36" name="Text 34"/>
          <p:cNvSpPr/>
          <p:nvPr/>
        </p:nvSpPr>
        <p:spPr>
          <a:xfrm>
            <a:off x="6898323" y="4458543"/>
            <a:ext cx="44025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178"/>
                </a:solidFill>
                <a:latin typeface="IBM Plex Sans" pitchFamily="34" charset="0"/>
                <a:ea typeface="IBM Plex Sans" pitchFamily="34" charset="-122"/>
                <a:cs typeface="IBM Plex Sans" pitchFamily="34" charset="-120"/>
              </a:rPr>
              <a:t>— CLAUDE.md, on the reference table</a:t>
            </a:r>
            <a:endParaRPr lang="en-US" sz="1200" dirty="0"/>
          </a:p>
        </p:txBody>
      </p:sp>
      <p:sp>
        <p:nvSpPr>
          <p:cNvPr id="37" name="Text 35"/>
          <p:cNvSpPr/>
          <p:nvPr/>
        </p:nvSpPr>
        <p:spPr>
          <a:xfrm>
            <a:off x="812800" y="6238236"/>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GESA Paycheck Savings Coach — Code Walkthrough</a:t>
            </a:r>
            <a:endParaRPr lang="en-US" sz="1200" dirty="0"/>
          </a:p>
        </p:txBody>
      </p:sp>
      <p:sp>
        <p:nvSpPr>
          <p:cNvPr id="38" name="Text 36"/>
          <p:cNvSpPr/>
          <p:nvPr/>
        </p:nvSpPr>
        <p:spPr>
          <a:xfrm>
            <a:off x="10058401" y="6238236"/>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6FF"/>
                </a:solidFill>
                <a:latin typeface="IBM Plex Sans" pitchFamily="34" charset="0"/>
                <a:ea typeface="IBM Plex Sans" pitchFamily="34" charset="-122"/>
                <a:cs typeface="IBM Plex Sans" pitchFamily="34" charset="-120"/>
              </a:rPr>
              <a:t>RESPONSIBLE AI &amp; WHAT'S NEXT</a:t>
            </a:r>
            <a:endParaRPr lang="en-US" sz="1200" dirty="0"/>
          </a:p>
        </p:txBody>
      </p:sp>
      <p:sp>
        <p:nvSpPr>
          <p:cNvPr id="3" name="Text 1"/>
          <p:cNvSpPr/>
          <p:nvPr/>
        </p:nvSpPr>
        <p:spPr>
          <a:xfrm>
            <a:off x="812800" y="1127758"/>
            <a:ext cx="10883393"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4162B"/>
                </a:solidFill>
                <a:latin typeface="Space Grotesk" pitchFamily="34" charset="0"/>
                <a:ea typeface="Space Grotesk" pitchFamily="34" charset="-122"/>
                <a:cs typeface="Space Grotesk" pitchFamily="34" charset="-120"/>
              </a:rPr>
              <a:t>Guidance, not advice. Opt-in, every time.</a:t>
            </a:r>
            <a:endParaRPr lang="en-US" sz="2800" dirty="0"/>
          </a:p>
        </p:txBody>
      </p:sp>
      <p:pic>
        <p:nvPicPr>
          <p:cNvPr id="4" name="Image 0" descr="Trust">    </p:cNvPr>
          <p:cNvPicPr>
            <a:picLocks noChangeAspect="1"/>
          </p:cNvPicPr>
          <p:nvPr/>
        </p:nvPicPr>
        <p:blipFill>
          <a:blip r:embed="rId1"/>
          <a:srcRect l="0" r="0" t="0" b="0"/>
          <a:stretch/>
        </p:blipFill>
        <p:spPr>
          <a:xfrm>
            <a:off x="812800" y="1722121"/>
            <a:ext cx="177800" cy="177800"/>
          </a:xfrm>
          <a:prstGeom prst="rect">
            <a:avLst/>
          </a:prstGeom>
        </p:spPr>
      </p:pic>
      <p:sp>
        <p:nvSpPr>
          <p:cNvPr id="5" name="Text 2"/>
          <p:cNvSpPr/>
          <p:nvPr/>
        </p:nvSpPr>
        <p:spPr>
          <a:xfrm>
            <a:off x="1079500" y="1722121"/>
            <a:ext cx="3930623"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Serves the member's own goal, never a GESA product</a:t>
            </a:r>
            <a:endParaRPr lang="en-US" sz="1250" dirty="0"/>
          </a:p>
        </p:txBody>
      </p:sp>
      <p:pic>
        <p:nvPicPr>
          <p:cNvPr id="6" name="Image 1" descr="Users">    </p:cNvPr>
          <p:cNvPicPr>
            <a:picLocks noChangeAspect="1"/>
          </p:cNvPicPr>
          <p:nvPr/>
        </p:nvPicPr>
        <p:blipFill>
          <a:blip r:embed="rId2"/>
          <a:srcRect l="0" r="0" t="0" b="0"/>
          <a:stretch/>
        </p:blipFill>
        <p:spPr>
          <a:xfrm>
            <a:off x="812800" y="2020571"/>
            <a:ext cx="177800" cy="177800"/>
          </a:xfrm>
          <a:prstGeom prst="rect">
            <a:avLst/>
          </a:prstGeom>
        </p:spPr>
      </p:pic>
      <p:sp>
        <p:nvSpPr>
          <p:cNvPr id="7" name="Text 3"/>
          <p:cNvSpPr/>
          <p:nvPr/>
        </p:nvSpPr>
        <p:spPr>
          <a:xfrm>
            <a:off x="1079500" y="2020571"/>
            <a:ext cx="4284736"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Hands off to a real person the moment the numbers say so</a:t>
            </a:r>
            <a:endParaRPr lang="en-US" sz="1250" dirty="0"/>
          </a:p>
        </p:txBody>
      </p:sp>
      <p:pic>
        <p:nvPicPr>
          <p:cNvPr id="8" name="Image 2" descr="Lock">    </p:cNvPr>
          <p:cNvPicPr>
            <a:picLocks noChangeAspect="1"/>
          </p:cNvPicPr>
          <p:nvPr/>
        </p:nvPicPr>
        <p:blipFill>
          <a:blip r:embed="rId3"/>
          <a:srcRect l="0" r="0" t="0" b="0"/>
          <a:stretch/>
        </p:blipFill>
        <p:spPr>
          <a:xfrm>
            <a:off x="812800" y="2319021"/>
            <a:ext cx="177800" cy="177800"/>
          </a:xfrm>
          <a:prstGeom prst="rect">
            <a:avLst/>
          </a:prstGeom>
        </p:spPr>
      </p:pic>
      <p:sp>
        <p:nvSpPr>
          <p:cNvPr id="9" name="Text 4"/>
          <p:cNvSpPr/>
          <p:nvPr/>
        </p:nvSpPr>
        <p:spPr>
          <a:xfrm>
            <a:off x="1079500" y="2319021"/>
            <a:ext cx="460565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Every move is opt-in and pausable, "Not now" always an option</a:t>
            </a:r>
            <a:endParaRPr lang="en-US" sz="1250" dirty="0"/>
          </a:p>
        </p:txBody>
      </p:sp>
      <p:pic>
        <p:nvPicPr>
          <p:cNvPr id="10" name="Image 3" descr="Warning">    </p:cNvPr>
          <p:cNvPicPr>
            <a:picLocks noChangeAspect="1"/>
          </p:cNvPicPr>
          <p:nvPr/>
        </p:nvPicPr>
        <p:blipFill>
          <a:blip r:embed="rId4"/>
          <a:srcRect l="0" r="0" t="0" b="0"/>
          <a:stretch/>
        </p:blipFill>
        <p:spPr>
          <a:xfrm>
            <a:off x="812800" y="2617471"/>
            <a:ext cx="177800" cy="177800"/>
          </a:xfrm>
          <a:prstGeom prst="rect">
            <a:avLst/>
          </a:prstGeom>
        </p:spPr>
      </p:pic>
      <p:sp>
        <p:nvSpPr>
          <p:cNvPr id="11" name="Text 5"/>
          <p:cNvSpPr/>
          <p:nvPr/>
        </p:nvSpPr>
        <p:spPr>
          <a:xfrm>
            <a:off x="1079500" y="2617471"/>
            <a:ext cx="4565487"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Irregular income gets the conservative lowest-month estimate</a:t>
            </a:r>
            <a:endParaRPr lang="en-US" sz="1250" dirty="0"/>
          </a:p>
        </p:txBody>
      </p:sp>
      <p:pic>
        <p:nvPicPr>
          <p:cNvPr id="12" name="Image 4" descr="CheckCircle">    </p:cNvPr>
          <p:cNvPicPr>
            <a:picLocks noChangeAspect="1"/>
          </p:cNvPicPr>
          <p:nvPr/>
        </p:nvPicPr>
        <p:blipFill>
          <a:blip r:embed="rId5"/>
          <a:srcRect l="0" r="0" t="0" b="0"/>
          <a:stretch/>
        </p:blipFill>
        <p:spPr>
          <a:xfrm>
            <a:off x="812800" y="2915921"/>
            <a:ext cx="177800" cy="177800"/>
          </a:xfrm>
          <a:prstGeom prst="rect">
            <a:avLst/>
          </a:prstGeom>
        </p:spPr>
      </p:pic>
      <p:sp>
        <p:nvSpPr>
          <p:cNvPr id="13" name="Text 6"/>
          <p:cNvSpPr/>
          <p:nvPr/>
        </p:nvSpPr>
        <p:spPr>
          <a:xfrm>
            <a:off x="1079500" y="2915921"/>
            <a:ext cx="3853281"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162B"/>
                </a:solidFill>
                <a:latin typeface="IBM Plex Sans" pitchFamily="34" charset="0"/>
                <a:ea typeface="IBM Plex Sans" pitchFamily="34" charset="-122"/>
                <a:cs typeface="IBM Plex Sans" pitchFamily="34" charset="-120"/>
              </a:rPr>
              <a:t>Never shames; a partial save is still named a real win</a:t>
            </a:r>
            <a:endParaRPr lang="en-US" sz="1250" dirty="0"/>
          </a:p>
        </p:txBody>
      </p:sp>
      <p:sp>
        <p:nvSpPr>
          <p:cNvPr id="14" name="Text 7"/>
          <p:cNvSpPr/>
          <p:nvPr/>
        </p:nvSpPr>
        <p:spPr>
          <a:xfrm>
            <a:off x="6223000" y="1722121"/>
            <a:ext cx="25769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F855A"/>
                </a:solidFill>
                <a:latin typeface="Space Grotesk" pitchFamily="34" charset="0"/>
                <a:ea typeface="Space Grotesk" pitchFamily="34" charset="-122"/>
                <a:cs typeface="Space Grotesk" pitchFamily="34" charset="-120"/>
              </a:rPr>
              <a:t>Built</a:t>
            </a:r>
            <a:endParaRPr lang="en-US" sz="1300" dirty="0"/>
          </a:p>
        </p:txBody>
      </p:sp>
      <p:sp>
        <p:nvSpPr>
          <p:cNvPr id="15" name="Text 8"/>
          <p:cNvSpPr/>
          <p:nvPr/>
        </p:nvSpPr>
        <p:spPr>
          <a:xfrm>
            <a:off x="6223000" y="1983736"/>
            <a:ext cx="2576957" cy="682625"/>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14162B"/>
                </a:solidFill>
                <a:latin typeface="IBM Plex Sans" pitchFamily="34" charset="0"/>
                <a:ea typeface="IBM Plex Sans" pitchFamily="34" charset="-122"/>
                <a:cs typeface="IBM Plex Sans" pitchFamily="34" charset="-120"/>
              </a:rPr>
              <a:t>Tiers 1 to 3, engine, Penny, validator, replay, found money, Ask Penny, portfolio check, branding, ER diagram</a:t>
            </a:r>
            <a:endParaRPr lang="en-US" sz="1150" dirty="0"/>
          </a:p>
        </p:txBody>
      </p:sp>
      <p:sp>
        <p:nvSpPr>
          <p:cNvPr id="16" name="Text 9"/>
          <p:cNvSpPr/>
          <p:nvPr/>
        </p:nvSpPr>
        <p:spPr>
          <a:xfrm>
            <a:off x="8877301" y="1722121"/>
            <a:ext cx="25769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7A5300"/>
                </a:solidFill>
                <a:latin typeface="Space Grotesk" pitchFamily="34" charset="0"/>
                <a:ea typeface="Space Grotesk" pitchFamily="34" charset="-122"/>
                <a:cs typeface="Space Grotesk" pitchFamily="34" charset="-120"/>
              </a:rPr>
              <a:t>Left for later</a:t>
            </a:r>
            <a:endParaRPr lang="en-US" sz="1300" dirty="0"/>
          </a:p>
        </p:txBody>
      </p:sp>
      <p:sp>
        <p:nvSpPr>
          <p:cNvPr id="17" name="Text 10"/>
          <p:cNvSpPr/>
          <p:nvPr/>
        </p:nvSpPr>
        <p:spPr>
          <a:xfrm>
            <a:off x="8877301" y="1983736"/>
            <a:ext cx="2576957" cy="682625"/>
          </a:xfrm>
          <a:prstGeom prst="rect">
            <a:avLst/>
          </a:prstGeom>
          <a:noFill/>
          <a:ln/>
        </p:spPr>
        <p:txBody>
          <a:bodyPr wrap="square" lIns="0" tIns="0" rIns="0" bIns="0" rtlCol="0" anchor="t">
            <a:normAutofit/>
          </a:bodyPr>
          <a:lstStyle/>
          <a:p>
            <a:pPr algn="l" indent="0" marL="0">
              <a:lnSpc>
                <a:spcPts val="1725"/>
              </a:lnSpc>
              <a:buNone/>
            </a:pPr>
            <a:r>
              <a:rPr lang="en-US" sz="1150" dirty="0">
                <a:solidFill>
                  <a:srgbClr val="14162B"/>
                </a:solidFill>
                <a:latin typeface="IBM Plex Sans" pitchFamily="34" charset="0"/>
                <a:ea typeface="IBM Plex Sans" pitchFamily="34" charset="-122"/>
                <a:cs typeface="IBM Plex Sans" pitchFamily="34" charset="-120"/>
              </a:rPr>
              <a:t>build_db.py + live SQLite, the enrollment stub screen, a percent-of-deposit fix for Irregular income</a:t>
            </a:r>
            <a:endParaRPr lang="en-US" sz="1150" dirty="0"/>
          </a:p>
        </p:txBody>
      </p:sp>
      <p:sp>
        <p:nvSpPr>
          <p:cNvPr id="18" name="Shape 11"/>
          <p:cNvSpPr/>
          <p:nvPr/>
        </p:nvSpPr>
        <p:spPr>
          <a:xfrm>
            <a:off x="812800" y="3341371"/>
            <a:ext cx="5207000" cy="1051560"/>
          </a:xfrm>
          <a:prstGeom prst="roundRect">
            <a:avLst>
              <a:gd name="adj" fmla="val 9662"/>
            </a:avLst>
          </a:prstGeom>
          <a:solidFill>
            <a:srgbClr val="14162B"/>
          </a:solidFill>
          <a:ln/>
        </p:spPr>
      </p:sp>
      <p:sp>
        <p:nvSpPr>
          <p:cNvPr id="19" name="Text 12"/>
          <p:cNvSpPr/>
          <p:nvPr/>
        </p:nvSpPr>
        <p:spPr>
          <a:xfrm>
            <a:off x="1016000" y="3519171"/>
            <a:ext cx="494461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A0FF"/>
                </a:solidFill>
                <a:latin typeface="Space Grotesk" pitchFamily="34" charset="0"/>
                <a:ea typeface="Space Grotesk" pitchFamily="34" charset="-122"/>
                <a:cs typeface="Space Grotesk" pitchFamily="34" charset="-120"/>
              </a:rPr>
              <a:t>MBR-0026, weekly pay</a:t>
            </a:r>
            <a:endParaRPr lang="en-US" sz="1300" dirty="0"/>
          </a:p>
        </p:txBody>
      </p:sp>
      <p:sp>
        <p:nvSpPr>
          <p:cNvPr id="20" name="Text 13"/>
          <p:cNvSpPr/>
          <p:nvPr/>
        </p:nvSpPr>
        <p:spPr>
          <a:xfrm>
            <a:off x="1016000" y="3788408"/>
            <a:ext cx="49446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B"/>
                </a:solidFill>
                <a:latin typeface="IBM Plex Sans" pitchFamily="34" charset="0"/>
                <a:ea typeface="IBM Plex Sans" pitchFamily="34" charset="-122"/>
                <a:cs typeface="IBM Plex Sans" pitchFamily="34" charset="-120"/>
              </a:rPr>
              <a:t>The full recommendation, replay, and found-money flow, start to finish</a:t>
            </a:r>
            <a:endParaRPr lang="en-US" sz="1200" dirty="0"/>
          </a:p>
        </p:txBody>
      </p:sp>
      <p:sp>
        <p:nvSpPr>
          <p:cNvPr id="21" name="Shape 14"/>
          <p:cNvSpPr/>
          <p:nvPr/>
        </p:nvSpPr>
        <p:spPr>
          <a:xfrm>
            <a:off x="6172200" y="3341371"/>
            <a:ext cx="5207000" cy="1051560"/>
          </a:xfrm>
          <a:prstGeom prst="roundRect">
            <a:avLst>
              <a:gd name="adj" fmla="val 9662"/>
            </a:avLst>
          </a:prstGeom>
          <a:solidFill>
            <a:srgbClr val="14162B"/>
          </a:solidFill>
          <a:ln/>
        </p:spPr>
      </p:sp>
      <p:sp>
        <p:nvSpPr>
          <p:cNvPr id="22" name="Text 15"/>
          <p:cNvSpPr/>
          <p:nvPr/>
        </p:nvSpPr>
        <p:spPr>
          <a:xfrm>
            <a:off x="6375400" y="3519171"/>
            <a:ext cx="494461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A0FF"/>
                </a:solidFill>
                <a:latin typeface="Space Grotesk" pitchFamily="34" charset="0"/>
                <a:ea typeface="Space Grotesk" pitchFamily="34" charset="-122"/>
                <a:cs typeface="Space Grotesk" pitchFamily="34" charset="-120"/>
              </a:rPr>
              <a:t>MBR-0062, second demo member</a:t>
            </a:r>
            <a:endParaRPr lang="en-US" sz="1300" dirty="0"/>
          </a:p>
        </p:txBody>
      </p:sp>
      <p:sp>
        <p:nvSpPr>
          <p:cNvPr id="23" name="Text 16"/>
          <p:cNvSpPr/>
          <p:nvPr/>
        </p:nvSpPr>
        <p:spPr>
          <a:xfrm>
            <a:off x="6375400" y="3788408"/>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7FB"/>
                </a:solidFill>
                <a:latin typeface="IBM Plex Sans" pitchFamily="34" charset="0"/>
                <a:ea typeface="IBM Plex Sans" pitchFamily="34" charset="-122"/>
                <a:cs typeface="IBM Plex Sans" pitchFamily="34" charset="-120"/>
              </a:rPr>
              <a:t>The hand-off screen, and found money reframed with no savings push</a:t>
            </a:r>
            <a:endParaRPr lang="en-US" sz="1200" dirty="0"/>
          </a:p>
        </p:txBody>
      </p:sp>
      <p:sp>
        <p:nvSpPr>
          <p:cNvPr id="24" name="Text 17"/>
          <p:cNvSpPr/>
          <p:nvPr/>
        </p:nvSpPr>
        <p:spPr>
          <a:xfrm>
            <a:off x="812800" y="6238236"/>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Synthetic data only. No real members, no real money movement, no login.</a:t>
            </a:r>
            <a:endParaRPr lang="en-US" sz="1200" dirty="0"/>
          </a:p>
        </p:txBody>
      </p:sp>
      <p:sp>
        <p:nvSpPr>
          <p:cNvPr id="25" name="Text 18"/>
          <p:cNvSpPr/>
          <p:nvPr/>
        </p:nvSpPr>
        <p:spPr>
          <a:xfrm>
            <a:off x="10058401" y="6238236"/>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0A6"/>
                </a:solidFill>
                <a:latin typeface="IBM Plex Sans" pitchFamily="34" charset="0"/>
                <a:ea typeface="IBM Plex Sans" pitchFamily="34" charset="-122"/>
                <a:cs typeface="IBM Plex Sans" pitchFamily="34" charset="-120"/>
              </a:rPr>
              <a:t>14 / 14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GESA Paycheck Savings Coach: Code Walkthrough</dc:title>
  <dc:subject>PptxGenJS Presentation</dc:subject>
  <dc:creator>PptxGenJS</dc:creator>
  <cp:lastModifiedBy>PptxGenJS</cp:lastModifiedBy>
  <cp:revision>1</cp:revision>
  <dcterms:created xsi:type="dcterms:W3CDTF">2026-09-25T04:09:56Z</dcterms:created>
  <dcterms:modified xsi:type="dcterms:W3CDTF">2026-09-25T04:09:56Z</dcterms:modified>
</cp:coreProperties>
</file>